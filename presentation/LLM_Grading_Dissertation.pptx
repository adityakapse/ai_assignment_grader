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dissertation asks a practical question: can large language models be trusted to grade student programming assignments — and if so, how should we set them up to do it? I'll take you through the motivation, the design, the implementation, the experiments on real and synthetic data, and the tool I built so a lecturer stays in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code by hand is slow, subjective, and doesn’t scale as class sizes grow. And the feedback students get shapes how they learn. So there’s pressure to automate — the question is whether automation can do it fairly, not just fast.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2024 review of 121 tools found two-thirds only check correctness, almost always with unit tests — which can’t grade partial credit, reasoning, or open-ended work. In parallel, LLM-as-a-judge shows &gt;80% agreement with humans on open-ended tasks, making an LLM a plausible grader, not just a test runner.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the catch. The EU AI Act calls automated grading high-risk and mandates human oversight, and students distrust opaque autograders. The research gap: prior work tests one variable at a time. My aim is to explore reliable LLM grading systematically, broken into six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datasets. Real: the University of Hamburg Algorithms and Data Structures corpus — anonymised submissions over three winter terms, Java and Python. Synthetic, authored by me: 21 asymptotic-analysis questions (the real corpus is implementation-only), plus crafted correct/semi/wrong solution variants for controlled coverage. Real proves it works in the wild; synthetic controls exactly what I measure.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example questions: on the left, an implementation task from the real Hamburg corpus — compute the LCM using a GCD helper. On the right, one of my authored asymptotic-analysis questions — the student must derive the tight time-complexity bound and justify it by line number. Same rubric machinery grades both, even though one is 'does the code work' and the other is 'is the reasoning about the code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Grading is only as good as the rubric. I use question-specific rubrics — Pathak et al. show these beat generic ones. Each has ~6 points; every point has exactly three buckets — Correct, Semi, Wrong — with criteria, and marks sum to 100. Same rubric drives both free-marking and classification, so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concrete rubric point, in full: whether the student's gcd function is present and structurally correct, worth 15 marks. Wrong means no gcd logic at all; Semi means a gcd function exists but its signature or structure is broken; Correct means a properly-shaped gcd function is present — its actual correctness is checked by later points. Every point in every rubric follows this same three-bucket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2×2 is the heart of the design. Two decisions: granularity (whole rubric vs one point at a time) and scoring mode (free marks vs classify into a fixed bucket). Approaches 3 and 4 — grading as classification — is the novel part no prior work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graded a reference set by hand, bucket by bucket — the yardstick for everything. Because LLMs are stochastic, every case runs three times and I take the median. Metrics: MAE and Spearman for accuracy and ranking, Cohen’s kappa for buckets, run std-dev for stability, format-OK, time — and leniency, the signed bias correlation is blind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six-stage pipeline: preprocessing cleans the raw dataset into a datastore; validation checks it; the grade stage builds prompts and calls the models; processing parses responses into scores; metrics computes everything; and the last stage generates the plots. One orchestrator runs it end-to-end, and every stage is skippable so long runs resume.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prompt gives the question, a reference solution, the student’s code, and the rubric — whole or single point — plus a system prompt that pins output to a strict parseable format. The same code talks to Ollama, NVIDIA NIM, and any OpenAI-compatible provider, so I can swap models without touching the grading logic.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prompts share the same header — question, sample solution, student code — and differ only in two axes. Left column (1 &amp; 3) sends the whole rubric in one call; right column (2 &amp; 4) sends one point per call. Top row (1 &amp; 2) asks for a free numeric mark; bottom row (3 &amp; 4) asks the model to classify into a bucket label. Only Approach 1 prints a TOTAL — and even then the pipeline ignores it and re-sums the per-point marks itself. This is the 2×2 design made visible in the prompts.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local models to reliably produce parseable output was real work: the parser flags format compliance, calls retry, completed cases are skipped so runs restart. One model kept burning its token budget ‘thinking’ and returned nothing — I disabled thinking-mode for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phases. First a controlled model-selection study on the synthetic set — 1,800 gradings — to earn the right to trust a model. Then the RQ study with the chosen models. First pick a trustworthy grader, then study how to grade.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research questions I chose which models to trust, comparing five candidates on error, stability, format compliance, leniency and speed. The small models broke format; I picked Qwen3-14b locally and gpt-oss-120b in the cloud, prioritising accuracy and calibration. [→ read the deciding numbers from these graphs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picture across all five candidates. Devstral is the most stable and has zero format failures, but is stricter and less accurate. Nemotron has the best bucket agreement but is the strictest, slowest, and least format-compliant. Gemma4:26b — the largest model tried at 26B parameters — actually underperforms the 14B Qwen: worse accuracy, the worst run-to-run stability, and roughly 9% format failures on long prompts, which is why it was dropped despite its size. Qwen3-14b and gpt-oss-120b win on the combination of accuracy and calibration, which is why they're the two models carried into the RQ study.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absolute error from human grades, per approach, for all five candidate models. [→ point out which models are most accurate.]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each model’s score moves across the three runs. [→ note the most and least stable models.]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often each model broke the required output format. [→ note which small/large models failed and why they were dropped.]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should the model classify into buckets or freely assign marks? I look at run-to-run consistency and agreement with human grades. The classifier only picks among three buckets, so we’d expect less drift. This is the novel comparison. [→ state the finding from the graphs.]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of LLM totals against human totals, per model. [→ which sits closer to human, and any shift.]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spread across the three runs on an implementation question, per model. [→ classifier vs free-marker stability.]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spread across runs on an asymptotic-analysis question, per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run scores deviate from the median across all questions, per 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whole rubric in one call, or one point at a time? I compare accuracy by approach and time. Point-by-point makes one call per rubric point, so it’s inherently costlier. [→ state whether it buys better agreement and whether it grades lower.]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from human grades per approach, for Qwen and gpt-oss. [→ which approach aligns best.]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 correlation with human grades per approach, per model.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Wall-clock time per approach. Point-by-point costs one call per rubric point. [→ quantify the accuracy-vs-compute trade-off.]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 how stable are marks across runs, and does it depend on model and approach? A grader can be accurate yet unreliable — giving different marks on identical input. [→ note which model and approach are most stable, and format-failure rates.]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movement across the three runs, per model. [→ most/least stable.]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often each model broke the output format. [→ compare the two production models.]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RQ4: is the model biased — too strict or generous, avoiding the middle bucket, or rewarding longer code regardless of quality? Ye et al. call that verbosity bias. These plots let me measure where each model sits. [→ state the direction of any bias found.]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Signed bias (LLM − human) per approach, per model. Positive = generous, negative = strict.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Per-submission LLM vs human totals, per model. [→ systematic shift off the diagonal.]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often each bucket is chosen vs human — does the model avoid the middle bucket?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 length vs marks awarded, per model. [→ does longer code score higher regardless of quality?]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RQ5: is the feedback trustworthy — grounded in the student’s code and consistent with the mark — or generic and hallucinated? Jia et al. found ~a quarter of LLM feedback is hallucinated. I score grounding, factual correctness and score-feedback agreement, plus an automatic contradiction rate. [→ present the feedback table.]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RQ6: what kind of mistakes does the model make, and are they systematic? I take the largest human–LLM gaps and tag each with an error type. [→ present the tagged failure cases.] RQ5 and RQ6 are my most qualitative, still-maturing analyses.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serious paper — and the EU AI Act — says the model must not decide alone. Korthals et al. show reviewing only the uncertain cases cuts grading effort 40–90%. So the deliverable is decision-support that keeps the lecturer in control.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page gives a clickable mark distribution with class stats and a bulk finalise. Review &amp; Adjust opens one submission: question, student code, sample and rubric side by side; all four approaches together; a per-point editor; and pre-fill from any approach or from ground truth. The LLM does the first pass; the human keeps the final say.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is provider-agnostic, surfaces which rubric points students found hardest, shows RQ plots on demand, and compares whole cohorts over time. A department could point it at any model and any course.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first study to compare classifier-vs-free-marking and whole-vs-point-by-point together, across local and cloud models, over repeated runs, on implementation and asymptotic questions, and on real and synthetic data — with a full pipeline and a human-in-the-loop tool. [→ deliver one headline per research question.] Limitations: single-grader ground truth, self-authored asymptotic questions, partly-manual feedback analysis.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6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360152" cy="1097280"/>
          </a:xfrm>
          <a:prstGeom prst="rect">
            <a:avLst/>
          </a:prstGeom>
          <a:noFill/>
        </p:spPr>
        <p:txBody>
          <a:bodyPr wrap="square" anchor="b">
            <a:spAutoFit/>
          </a:bodyPr>
          <a:lstStyle/>
          <a:p>
            <a:pPr algn="ctr"/>
            <a:r>
              <a:rPr sz="3400" b="1" i="0">
                <a:solidFill>
                  <a:srgbClr val="1F3A5C"/>
                </a:solidFill>
                <a:latin typeface="Calibri"/>
              </a:rPr>
              <a:t>Exploring Large Language Models for Grading Programming Assignments</a:t>
            </a:r>
          </a:p>
        </p:txBody>
      </p:sp>
      <p:sp>
        <p:nvSpPr>
          <p:cNvPr id="4" name="TextBox 3"/>
          <p:cNvSpPr txBox="1"/>
          <p:nvPr/>
        </p:nvSpPr>
        <p:spPr>
          <a:xfrm>
            <a:off x="914400" y="2468880"/>
            <a:ext cx="10360152" cy="548640"/>
          </a:xfrm>
          <a:prstGeom prst="rect">
            <a:avLst/>
          </a:prstGeom>
          <a:noFill/>
        </p:spPr>
        <p:txBody>
          <a:bodyPr wrap="square" anchor="t">
            <a:spAutoFit/>
          </a:bodyPr>
          <a:lstStyle/>
          <a:p>
            <a:pPr algn="ctr"/>
            <a:r>
              <a:rPr sz="1800" b="0" i="1">
                <a:solidFill>
                  <a:srgbClr val="747C84"/>
                </a:solidFill>
                <a:latin typeface="Calibri"/>
              </a:rPr>
              <a:t>A rubric-based, multi-approach comparison against human grades</a:t>
            </a:r>
          </a:p>
        </p:txBody>
      </p:sp>
      <p:sp>
        <p:nvSpPr>
          <p:cNvPr id="5" name="TextBox 4"/>
          <p:cNvSpPr txBox="1"/>
          <p:nvPr/>
        </p:nvSpPr>
        <p:spPr>
          <a:xfrm>
            <a:off x="914400" y="3566160"/>
            <a:ext cx="10360152" cy="1280160"/>
          </a:xfrm>
          <a:prstGeom prst="rect">
            <a:avLst/>
          </a:prstGeom>
          <a:noFill/>
        </p:spPr>
        <p:txBody>
          <a:bodyPr wrap="square" anchor="t">
            <a:spAutoFit/>
          </a:bodyPr>
          <a:lstStyle/>
          <a:p>
            <a:pPr algn="ctr">
              <a:spcAft>
                <a:spcPts val="600"/>
              </a:spcAft>
            </a:pPr>
            <a:r>
              <a:rPr sz="1500" b="1" i="0">
                <a:solidFill>
                  <a:srgbClr val="262B30"/>
                </a:solidFill>
                <a:latin typeface="Calibri"/>
              </a:rPr>
              <a:t>MSc Computer Science (Intelligent Systems) — Dissertation</a:t>
            </a:r>
          </a:p>
          <a:p>
            <a:pPr algn="ctr">
              <a:spcAft>
                <a:spcPts val="600"/>
              </a:spcAft>
            </a:pPr>
            <a:r>
              <a:rPr sz="1500" b="0" i="0">
                <a:solidFill>
                  <a:srgbClr val="747C84"/>
                </a:solidFill>
                <a:latin typeface="Calibri"/>
              </a:rPr>
              <a:t>[Your name]   ·   Supervisor: [name]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Motivation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MOTIVATION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Grading code by hand doesn’t scale</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Slow — hand-grading eats staff time as cohorts grow</a:t>
            </a:r>
          </a:p>
          <a:p>
            <a:pPr>
              <a:spcAft>
                <a:spcPts val="800"/>
              </a:spcAft>
            </a:pPr>
            <a:r>
              <a:rPr sz="1800" b="0" i="0">
                <a:solidFill>
                  <a:srgbClr val="262B30"/>
                </a:solidFill>
                <a:latin typeface="Calibri"/>
              </a:rPr>
              <a:t>•  Subjective — two markers rarely agree on the same submission</a:t>
            </a:r>
          </a:p>
          <a:p>
            <a:pPr>
              <a:spcAft>
                <a:spcPts val="800"/>
              </a:spcAft>
            </a:pPr>
            <a:r>
              <a:rPr sz="1800" b="0" i="0">
                <a:solidFill>
                  <a:srgbClr val="262B30"/>
                </a:solidFill>
                <a:latin typeface="Calibri"/>
              </a:rPr>
              <a:t>•  Doesn’t scale with class size</a:t>
            </a:r>
          </a:p>
          <a:p>
            <a:pPr>
              <a:spcAft>
                <a:spcPts val="800"/>
              </a:spcAft>
            </a:pPr>
            <a:r>
              <a:rPr sz="1800" b="0" i="0">
                <a:solidFill>
                  <a:srgbClr val="262B30"/>
                </a:solidFill>
                <a:latin typeface="Calibri"/>
              </a:rPr>
              <a:t>•  Feedback shapes how students learn — quality matters, not just speed</a:t>
            </a:r>
          </a:p>
          <a:p>
            <a:pPr>
              <a:spcAft>
                <a:spcPts val="800"/>
              </a:spcAft>
            </a:pPr>
            <a:r>
              <a:rPr sz="1800" b="0" i="0">
                <a:solidFill>
                  <a:srgbClr val="262B30"/>
                </a:solidFill>
                <a:latin typeface="Calibri"/>
              </a:rPr>
              <a:t>•  Pressure to automate — but it must be fair, not just fast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MOTIVATION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What today’s tools can — and can’t — do</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Unit-test autograders (dominant approach)</a:t>
            </a:r>
          </a:p>
          <a:p>
            <a:pPr lvl="1">
              <a:spcAft>
                <a:spcPts val="800"/>
              </a:spcAft>
            </a:pPr>
            <a:r>
              <a:rPr sz="1500" b="0" i="0">
                <a:solidFill>
                  <a:srgbClr val="747C84"/>
                </a:solidFill>
                <a:latin typeface="Calibri"/>
              </a:rPr>
              <a:t>–  Messer et al. 2024 review of 121 tools: ~⅔ grade correctness only</a:t>
            </a:r>
          </a:p>
          <a:p>
            <a:pPr lvl="1">
              <a:spcAft>
                <a:spcPts val="800"/>
              </a:spcAft>
            </a:pPr>
            <a:r>
              <a:rPr sz="1500" b="0" i="0">
                <a:solidFill>
                  <a:srgbClr val="747C84"/>
                </a:solidFill>
                <a:latin typeface="Calibri"/>
              </a:rPr>
              <a:t>–  No partial credit, no open-ended reasoning; feedback is just pass/fail</a:t>
            </a:r>
          </a:p>
          <a:p>
            <a:pPr>
              <a:spcAft>
                <a:spcPts val="800"/>
              </a:spcAft>
            </a:pPr>
            <a:r>
              <a:rPr sz="1800" b="0" i="0">
                <a:solidFill>
                  <a:srgbClr val="262B30"/>
                </a:solidFill>
                <a:latin typeface="Calibri"/>
              </a:rPr>
              <a:t>•  LLM-as-a-judge (emerging)</a:t>
            </a:r>
          </a:p>
          <a:p>
            <a:pPr lvl="1">
              <a:spcAft>
                <a:spcPts val="800"/>
              </a:spcAft>
            </a:pPr>
            <a:r>
              <a:rPr sz="1500" b="0" i="0">
                <a:solidFill>
                  <a:srgbClr val="747C84"/>
                </a:solidFill>
                <a:latin typeface="Calibri"/>
              </a:rPr>
              <a:t>–  Zheng 2023, Gu 2025: &gt;80% agreement with humans on open-ended tasks</a:t>
            </a:r>
          </a:p>
          <a:p>
            <a:pPr lvl="1">
              <a:spcAft>
                <a:spcPts val="800"/>
              </a:spcAft>
            </a:pPr>
            <a:r>
              <a:rPr sz="1500" b="0" i="0">
                <a:solidFill>
                  <a:srgbClr val="747C84"/>
                </a:solidFill>
                <a:latin typeface="Calibri"/>
              </a:rPr>
              <a:t>–  Reads code, reasons, writes feedback → a plausible grader, not just a test runner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MOTIVATION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Can we trust it? The gap → six research questions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EU AI Act: automated grading is “high-risk” — human oversight mandated</a:t>
            </a:r>
          </a:p>
          <a:p>
            <a:pPr>
              <a:spcAft>
                <a:spcPts val="800"/>
              </a:spcAft>
            </a:pPr>
            <a:r>
              <a:rPr sz="1800" b="0" i="0">
                <a:solidFill>
                  <a:srgbClr val="262B30"/>
                </a:solidFill>
                <a:latin typeface="Calibri"/>
              </a:rPr>
              <a:t>•  Students distrust opaque autograders</a:t>
            </a:r>
          </a:p>
          <a:p>
            <a:pPr>
              <a:spcAft>
                <a:spcPts val="800"/>
              </a:spcAft>
            </a:pPr>
            <a:r>
              <a:rPr sz="1800" b="0" i="0">
                <a:solidFill>
                  <a:srgbClr val="262B30"/>
                </a:solidFill>
                <a:latin typeface="Calibri"/>
              </a:rPr>
              <a:t>•  Gap: prior work tests ONE variable at a time (one style / type / model / run)</a:t>
            </a:r>
          </a:p>
          <a:p>
            <a:pPr>
              <a:spcAft>
                <a:spcPts val="800"/>
              </a:spcAft>
            </a:pPr>
            <a:r>
              <a:rPr sz="1800" b="0" i="0">
                <a:solidFill>
                  <a:srgbClr val="262B30"/>
                </a:solidFill>
                <a:latin typeface="Calibri"/>
              </a:rPr>
              <a:t>•  Aim: systematically explore reliable LLM grading → 6 RQs:</a:t>
            </a:r>
          </a:p>
          <a:p>
            <a:pPr lvl="1">
              <a:spcAft>
                <a:spcPts val="800"/>
              </a:spcAft>
            </a:pPr>
            <a:r>
              <a:rPr sz="1500" b="0" i="0">
                <a:solidFill>
                  <a:srgbClr val="747C84"/>
                </a:solidFill>
                <a:latin typeface="Calibri"/>
              </a:rPr>
              <a:t>–  RQ1 classifier vs free · RQ2 whole vs point · RQ3 robustness</a:t>
            </a:r>
          </a:p>
          <a:p>
            <a:pPr lvl="1">
              <a:spcAft>
                <a:spcPts val="800"/>
              </a:spcAft>
            </a:pPr>
            <a:r>
              <a:rPr sz="1500" b="0" i="0">
                <a:solidFill>
                  <a:srgbClr val="747C84"/>
                </a:solidFill>
                <a:latin typeface="Calibri"/>
              </a:rPr>
              <a:t>–  RQ4 bias · RQ5 feedback quality · RQ6 failure modes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Two datasets: real + synthetic</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6</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Real — University of Hamburg “Algorithmen und Datenstrukturen” (AD2022)</a:t>
            </a:r>
          </a:p>
          <a:p>
            <a:pPr lvl="1">
              <a:spcAft>
                <a:spcPts val="800"/>
              </a:spcAft>
            </a:pPr>
            <a:r>
              <a:rPr sz="1500" b="0" i="0">
                <a:solidFill>
                  <a:srgbClr val="747C84"/>
                </a:solidFill>
                <a:latin typeface="Calibri"/>
              </a:rPr>
              <a:t>–  Anonymised student code, 3 winter terms, Java + Python (~1,526 solutions)</a:t>
            </a:r>
          </a:p>
          <a:p>
            <a:pPr lvl="1">
              <a:spcAft>
                <a:spcPts val="800"/>
              </a:spcAft>
            </a:pPr>
            <a:r>
              <a:rPr sz="1500" b="0" i="0">
                <a:solidFill>
                  <a:srgbClr val="747C84"/>
                </a:solidFill>
                <a:latin typeface="Calibri"/>
              </a:rPr>
              <a:t>–  Ecological validity — real, messy student code</a:t>
            </a:r>
          </a:p>
          <a:p>
            <a:pPr>
              <a:spcAft>
                <a:spcPts val="800"/>
              </a:spcAft>
            </a:pPr>
            <a:r>
              <a:rPr sz="1800" b="0" i="0">
                <a:solidFill>
                  <a:srgbClr val="262B30"/>
                </a:solidFill>
                <a:latin typeface="Calibri"/>
              </a:rPr>
              <a:t>•  Synthetic — authored by me</a:t>
            </a:r>
          </a:p>
          <a:p>
            <a:pPr lvl="1">
              <a:spcAft>
                <a:spcPts val="800"/>
              </a:spcAft>
            </a:pPr>
            <a:r>
              <a:rPr sz="1500" b="0" i="0">
                <a:solidFill>
                  <a:srgbClr val="747C84"/>
                </a:solidFill>
                <a:latin typeface="Calibri"/>
              </a:rPr>
              <a:t>–  21 asymptotic-analysis questions (real corpus is implementation-only)</a:t>
            </a:r>
          </a:p>
          <a:p>
            <a:pPr lvl="1">
              <a:spcAft>
                <a:spcPts val="800"/>
              </a:spcAft>
            </a:pPr>
            <a:r>
              <a:rPr sz="1500" b="0" i="0">
                <a:solidFill>
                  <a:srgbClr val="747C84"/>
                </a:solidFill>
                <a:latin typeface="Calibri"/>
              </a:rPr>
              <a:t>–  Crafted correct / semi-correct / wrong solution variants</a:t>
            </a:r>
          </a:p>
          <a:p>
            <a:pPr>
              <a:spcAft>
                <a:spcPts val="800"/>
              </a:spcAft>
            </a:pPr>
            <a:r>
              <a:rPr sz="1800" b="0" i="0">
                <a:solidFill>
                  <a:srgbClr val="262B30"/>
                </a:solidFill>
                <a:latin typeface="Calibri"/>
              </a:rPr>
              <a:t>•  Real proves it works in the wild; synthetic gives controlled coverage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Example question types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7</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Implementation  ·  19_20-1-1-java</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Asymptotic analysis  ·  asym-1-java</a:t>
            </a:r>
          </a:p>
        </p:txBody>
      </p:sp>
      <p:sp>
        <p:nvSpPr>
          <p:cNvPr id="8" name="TextBox 7"/>
          <p:cNvSpPr txBox="1"/>
          <p:nvPr/>
        </p:nvSpPr>
        <p:spPr>
          <a:xfrm>
            <a:off x="457200" y="1783080"/>
            <a:ext cx="5486400" cy="685800"/>
          </a:xfrm>
          <a:prstGeom prst="rect">
            <a:avLst/>
          </a:prstGeom>
          <a:noFill/>
        </p:spPr>
        <p:txBody>
          <a:bodyPr wrap="square" anchor="t">
            <a:spAutoFit/>
          </a:bodyPr>
          <a:lstStyle/>
          <a:p>
            <a:r>
              <a:rPr sz="1200" b="0" i="1">
                <a:solidFill>
                  <a:srgbClr val="262B30"/>
                </a:solidFill>
                <a:latin typeface="Calibri"/>
              </a:rPr>
              <a:t>"Implement a function that calculates the LCM of two given values." (may not use import)</a:t>
            </a:r>
          </a:p>
        </p:txBody>
      </p:sp>
      <p:sp>
        <p:nvSpPr>
          <p:cNvPr id="9" name="TextBox 8"/>
          <p:cNvSpPr txBox="1"/>
          <p:nvPr/>
        </p:nvSpPr>
        <p:spPr>
          <a:xfrm>
            <a:off x="6245352" y="1783080"/>
            <a:ext cx="5486400" cy="685800"/>
          </a:xfrm>
          <a:prstGeom prst="rect">
            <a:avLst/>
          </a:prstGeom>
          <a:noFill/>
        </p:spPr>
        <p:txBody>
          <a:bodyPr wrap="square" anchor="t">
            <a:spAutoFit/>
          </a:bodyPr>
          <a:lstStyle/>
          <a:p>
            <a:r>
              <a:rPr sz="1200" b="0" i="1">
                <a:solidFill>
                  <a:srgbClr val="262B30"/>
                </a:solidFill>
                <a:latin typeface="Calibri"/>
              </a:rPr>
              <a:t>"Calculate the asymptotic worst-case running time of f, as a function of N. Refer to line numbers."</a:t>
            </a:r>
          </a:p>
        </p:txBody>
      </p:sp>
      <p:sp>
        <p:nvSpPr>
          <p:cNvPr id="10" name="Rounded Rectangle 9"/>
          <p:cNvSpPr/>
          <p:nvPr/>
        </p:nvSpPr>
        <p:spPr>
          <a:xfrm>
            <a:off x="457200" y="2514600"/>
            <a:ext cx="5486400" cy="356616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300">
                <a:solidFill>
                  <a:srgbClr val="262B30"/>
                </a:solidFill>
                <a:latin typeface="Consolas"/>
              </a:rPr>
              <a:t>int gcd(int a, int b) {</a:t>
            </a:r>
          </a:p>
          <a:p>
            <a:pPr>
              <a:spcAft>
                <a:spcPts val="100"/>
              </a:spcAft>
            </a:pPr>
            <a:r>
              <a:rPr sz="1300">
                <a:solidFill>
                  <a:srgbClr val="262B30"/>
                </a:solidFill>
                <a:latin typeface="Consolas"/>
              </a:rPr>
              <a:t>    if (a &lt; b) {</a:t>
            </a:r>
          </a:p>
          <a:p>
            <a:pPr>
              <a:spcAft>
                <a:spcPts val="100"/>
              </a:spcAft>
            </a:pPr>
            <a:r>
              <a:rPr sz="1300">
                <a:solidFill>
                  <a:srgbClr val="262B30"/>
                </a:solidFill>
                <a:latin typeface="Consolas"/>
              </a:rPr>
              <a:t>        int tmp = a; a = b; b = tmp;</a:t>
            </a:r>
          </a:p>
          <a:p>
            <a:pPr>
              <a:spcAft>
                <a:spcPts val="100"/>
              </a:spcAft>
            </a:pPr>
            <a:r>
              <a:rPr sz="1300">
                <a:solidFill>
                  <a:srgbClr val="262B30"/>
                </a:solidFill>
                <a:latin typeface="Consolas"/>
              </a:rPr>
              <a:t>    }</a:t>
            </a:r>
          </a:p>
          <a:p>
            <a:pPr>
              <a:spcAft>
                <a:spcPts val="100"/>
              </a:spcAft>
            </a:pPr>
            <a:r>
              <a:rPr sz="1300">
                <a:solidFill>
                  <a:srgbClr val="262B30"/>
                </a:solidFill>
                <a:latin typeface="Consolas"/>
              </a:rPr>
              <a:t>    int r = a % b;</a:t>
            </a:r>
          </a:p>
          <a:p>
            <a:pPr>
              <a:spcAft>
                <a:spcPts val="100"/>
              </a:spcAft>
            </a:pPr>
            <a:r>
              <a:rPr sz="1300">
                <a:solidFill>
                  <a:srgbClr val="262B30"/>
                </a:solidFill>
                <a:latin typeface="Consolas"/>
              </a:rPr>
              <a:t>    if (r == 0) return b;</a:t>
            </a:r>
          </a:p>
          <a:p>
            <a:pPr>
              <a:spcAft>
                <a:spcPts val="100"/>
              </a:spcAft>
            </a:pPr>
            <a:r>
              <a:rPr sz="1300">
                <a:solidFill>
                  <a:srgbClr val="262B30"/>
                </a:solidFill>
                <a:latin typeface="Consolas"/>
              </a:rPr>
              <a:t>    return gcd(r, b);</a:t>
            </a:r>
          </a:p>
          <a:p>
            <a:pPr>
              <a:spcAft>
                <a:spcPts val="100"/>
              </a:spcAft>
            </a:pPr>
            <a:r>
              <a:rPr sz="1300">
                <a:solidFill>
                  <a:srgbClr val="262B30"/>
                </a:solidFill>
                <a:latin typeface="Consolas"/>
              </a:rPr>
              <a:t>}</a:t>
            </a:r>
          </a:p>
          <a:p>
            <a:pPr>
              <a:spcAft>
                <a:spcPts val="100"/>
              </a:spcAft>
            </a:pPr>
            <a:r>
              <a:rPr sz="1300">
                <a:solidFill>
                  <a:srgbClr val="262B30"/>
                </a:solidFill>
                <a:latin typeface="Consolas"/>
              </a:rPr>
              <a:t> </a:t>
            </a:r>
          </a:p>
          <a:p>
            <a:pPr>
              <a:spcAft>
                <a:spcPts val="100"/>
              </a:spcAft>
            </a:pPr>
            <a:r>
              <a:rPr sz="1300">
                <a:solidFill>
                  <a:srgbClr val="262B30"/>
                </a:solidFill>
                <a:latin typeface="Consolas"/>
              </a:rPr>
              <a:t>int lcm(int a, int b) {</a:t>
            </a:r>
          </a:p>
          <a:p>
            <a:pPr>
              <a:spcAft>
                <a:spcPts val="100"/>
              </a:spcAft>
            </a:pPr>
            <a:r>
              <a:rPr sz="1300">
                <a:solidFill>
                  <a:srgbClr val="262B30"/>
                </a:solidFill>
                <a:latin typeface="Consolas"/>
              </a:rPr>
              <a:t>    return (a * b) / gcd(a, b);</a:t>
            </a:r>
          </a:p>
          <a:p>
            <a:pPr>
              <a:spcAft>
                <a:spcPts val="100"/>
              </a:spcAft>
            </a:pPr>
            <a:r>
              <a:rPr sz="1300">
                <a:solidFill>
                  <a:srgbClr val="262B30"/>
                </a:solidFill>
                <a:latin typeface="Consolas"/>
              </a:rPr>
              <a:t>}</a:t>
            </a:r>
          </a:p>
        </p:txBody>
      </p:sp>
      <p:sp>
        <p:nvSpPr>
          <p:cNvPr id="11" name="Rounded Rectangle 10"/>
          <p:cNvSpPr/>
          <p:nvPr/>
        </p:nvSpPr>
        <p:spPr>
          <a:xfrm>
            <a:off x="6245352" y="2514600"/>
            <a:ext cx="5486400" cy="356616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300">
                <a:solidFill>
                  <a:srgbClr val="262B30"/>
                </a:solidFill>
                <a:latin typeface="Consolas"/>
              </a:rPr>
              <a:t>static int f(int[] a) {</a:t>
            </a:r>
          </a:p>
          <a:p>
            <a:pPr>
              <a:spcAft>
                <a:spcPts val="100"/>
              </a:spcAft>
            </a:pPr>
            <a:r>
              <a:rPr sz="1300">
                <a:solidFill>
                  <a:srgbClr val="262B30"/>
                </a:solidFill>
                <a:latin typeface="Consolas"/>
              </a:rPr>
              <a:t>    int n = a.length;</a:t>
            </a:r>
          </a:p>
          <a:p>
            <a:pPr>
              <a:spcAft>
                <a:spcPts val="100"/>
              </a:spcAft>
            </a:pPr>
            <a:r>
              <a:rPr sz="1300">
                <a:solidFill>
                  <a:srgbClr val="262B30"/>
                </a:solidFill>
                <a:latin typeface="Consolas"/>
              </a:rPr>
              <a:t>    int s = 0;</a:t>
            </a:r>
          </a:p>
          <a:p>
            <a:pPr>
              <a:spcAft>
                <a:spcPts val="100"/>
              </a:spcAft>
            </a:pPr>
            <a:r>
              <a:rPr sz="1300">
                <a:solidFill>
                  <a:srgbClr val="262B30"/>
                </a:solidFill>
                <a:latin typeface="Consolas"/>
              </a:rPr>
              <a:t>    for (int i = 0; i &lt; n; i++) {</a:t>
            </a:r>
          </a:p>
          <a:p>
            <a:pPr>
              <a:spcAft>
                <a:spcPts val="100"/>
              </a:spcAft>
            </a:pPr>
            <a:r>
              <a:rPr sz="1300">
                <a:solidFill>
                  <a:srgbClr val="262B30"/>
                </a:solidFill>
                <a:latin typeface="Consolas"/>
              </a:rPr>
              <a:t>        for (int j = 0; j &lt;= i; j++) {</a:t>
            </a:r>
          </a:p>
          <a:p>
            <a:pPr>
              <a:spcAft>
                <a:spcPts val="100"/>
              </a:spcAft>
            </a:pPr>
            <a:r>
              <a:rPr sz="1300">
                <a:solidFill>
                  <a:srgbClr val="262B30"/>
                </a:solidFill>
                <a:latin typeface="Consolas"/>
              </a:rPr>
              <a:t>            s += a[j] * a[i];</a:t>
            </a:r>
          </a:p>
          <a:p>
            <a:pPr>
              <a:spcAft>
                <a:spcPts val="100"/>
              </a:spcAft>
            </a:pPr>
            <a:r>
              <a:rPr sz="1300">
                <a:solidFill>
                  <a:srgbClr val="262B30"/>
                </a:solidFill>
                <a:latin typeface="Consolas"/>
              </a:rPr>
              <a:t>        }</a:t>
            </a:r>
          </a:p>
          <a:p>
            <a:pPr>
              <a:spcAft>
                <a:spcPts val="100"/>
              </a:spcAft>
            </a:pPr>
            <a:r>
              <a:rPr sz="1300">
                <a:solidFill>
                  <a:srgbClr val="262B30"/>
                </a:solidFill>
                <a:latin typeface="Consolas"/>
              </a:rPr>
              <a:t>    }</a:t>
            </a:r>
          </a:p>
          <a:p>
            <a:pPr>
              <a:spcAft>
                <a:spcPts val="100"/>
              </a:spcAft>
            </a:pPr>
            <a:r>
              <a:rPr sz="1300">
                <a:solidFill>
                  <a:srgbClr val="262B30"/>
                </a:solidFill>
                <a:latin typeface="Consolas"/>
              </a:rPr>
              <a:t>    int t = g(a);</a:t>
            </a:r>
          </a:p>
          <a:p>
            <a:pPr>
              <a:spcAft>
                <a:spcPts val="100"/>
              </a:spcAft>
            </a:pPr>
            <a:r>
              <a:rPr sz="1300">
                <a:solidFill>
                  <a:srgbClr val="262B30"/>
                </a:solidFill>
                <a:latin typeface="Consolas"/>
              </a:rPr>
              <a:t>    return s + t;</a:t>
            </a:r>
          </a:p>
          <a:p>
            <a:pPr>
              <a:spcAft>
                <a:spcPts val="100"/>
              </a:spcAft>
            </a:pPr>
            <a:r>
              <a:rPr sz="1300">
                <a:solidFill>
                  <a:srgbClr val="262B30"/>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Rubric design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8</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Question-specific rubrics (beat generic ones — Pathak et al. 2025)</a:t>
            </a:r>
          </a:p>
          <a:p>
            <a:pPr>
              <a:spcAft>
                <a:spcPts val="800"/>
              </a:spcAft>
            </a:pPr>
            <a:r>
              <a:rPr sz="1800" b="0" i="0">
                <a:solidFill>
                  <a:srgbClr val="262B30"/>
                </a:solidFill>
                <a:latin typeface="Calibri"/>
              </a:rPr>
              <a:t>•  ~6 points per rubric; point marks sum to 100</a:t>
            </a:r>
          </a:p>
          <a:p>
            <a:pPr>
              <a:spcAft>
                <a:spcPts val="800"/>
              </a:spcAft>
            </a:pPr>
            <a:r>
              <a:rPr sz="1800" b="0" i="0">
                <a:solidFill>
                  <a:srgbClr val="262B30"/>
                </a:solidFill>
                <a:latin typeface="Calibri"/>
              </a:rPr>
              <a:t>•  Exactly 3 buckets per point: Correct / Semi / Wrong, each with criteria</a:t>
            </a:r>
          </a:p>
          <a:p>
            <a:pPr>
              <a:spcAft>
                <a:spcPts val="800"/>
              </a:spcAft>
            </a:pPr>
            <a:r>
              <a:rPr sz="1800" b="0" i="0">
                <a:solidFill>
                  <a:srgbClr val="262B30"/>
                </a:solidFill>
                <a:latin typeface="Calibri"/>
              </a:rPr>
              <a:t>•  Same rubric drives BOTH free-marking and classification — a fair comparison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Rubric example — one point, three buckets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9</a:t>
            </a:r>
          </a:p>
        </p:txBody>
      </p:sp>
      <p:sp>
        <p:nvSpPr>
          <p:cNvPr id="6" name="TextBox 5"/>
          <p:cNvSpPr txBox="1"/>
          <p:nvPr/>
        </p:nvSpPr>
        <p:spPr>
          <a:xfrm>
            <a:off x="548640" y="1417320"/>
            <a:ext cx="11091672" cy="548640"/>
          </a:xfrm>
          <a:prstGeom prst="rect">
            <a:avLst/>
          </a:prstGeom>
          <a:noFill/>
        </p:spPr>
        <p:txBody>
          <a:bodyPr wrap="square" anchor="t">
            <a:spAutoFit/>
          </a:bodyPr>
          <a:lstStyle/>
          <a:p>
            <a:r>
              <a:rPr sz="1500" b="1" i="0">
                <a:solidFill>
                  <a:srgbClr val="262B30"/>
                </a:solidFill>
                <a:latin typeface="Calibri"/>
              </a:rPr>
              <a:t>Point 1 · “gcd function present and structurally correct” — 15 marks (19_20-1-1)</a:t>
            </a:r>
          </a:p>
        </p:txBody>
      </p:sp>
      <p:graphicFrame>
        <p:nvGraphicFramePr>
          <p:cNvPr id="7" name="Table 6"/>
          <p:cNvGraphicFramePr>
            <a:graphicFrameLocks noGrp="1"/>
          </p:cNvGraphicFramePr>
          <p:nvPr/>
        </p:nvGraphicFramePr>
        <p:xfrm>
          <a:off x="548640" y="2103120"/>
          <a:ext cx="11091672" cy="2286000"/>
        </p:xfrm>
        <a:graphic>
          <a:graphicData uri="http://schemas.openxmlformats.org/drawingml/2006/table">
            <a:tbl>
              <a:tblPr firstRow="1" bandRow="1">
                <a:tableStyleId>{5C22544A-7EE6-4342-B048-85BDC9FD1C3A}</a:tableStyleId>
              </a:tblPr>
              <a:tblGrid>
                <a:gridCol w="3694176"/>
                <a:gridCol w="3694176"/>
                <a:gridCol w="3703320"/>
              </a:tblGrid>
              <a:tr h="502920">
                <a:tc>
                  <a:txBody>
                    <a:bodyPr/>
                    <a:lstStyle/>
                    <a:p>
                      <a:pPr algn="ctr"/>
                      <a:r>
                        <a:rPr sz="1600" b="1" i="0">
                          <a:solidFill>
                            <a:srgbClr val="A6382C"/>
                          </a:solidFill>
                          <a:latin typeface="Calibri"/>
                        </a:rPr>
                        <a:t>Wrong — 0 marks</a:t>
                      </a:r>
                    </a:p>
                  </a:txBody>
                  <a:tcPr marT="101600" marB="101600" marL="127000" marR="127000" anchor="t">
                    <a:solidFill>
                      <a:srgbClr val="FBE9E7"/>
                    </a:solidFill>
                  </a:tcPr>
                </a:tc>
                <a:tc>
                  <a:txBody>
                    <a:bodyPr/>
                    <a:lstStyle/>
                    <a:p>
                      <a:pPr algn="ctr"/>
                      <a:r>
                        <a:rPr sz="1600" b="1" i="0">
                          <a:solidFill>
                            <a:srgbClr val="A9760B"/>
                          </a:solidFill>
                          <a:latin typeface="Calibri"/>
                        </a:rPr>
                        <a:t>Semi — 8 marks</a:t>
                      </a:r>
                    </a:p>
                  </a:txBody>
                  <a:tcPr marT="101600" marB="101600" marL="127000" marR="127000" anchor="t">
                    <a:solidFill>
                      <a:srgbClr val="FDF2DA"/>
                    </a:solidFill>
                  </a:tcPr>
                </a:tc>
                <a:tc>
                  <a:txBody>
                    <a:bodyPr/>
                    <a:lstStyle/>
                    <a:p>
                      <a:pPr algn="ctr"/>
                      <a:r>
                        <a:rPr sz="1600" b="1" i="0">
                          <a:solidFill>
                            <a:srgbClr val="2E7D4F"/>
                          </a:solidFill>
                          <a:latin typeface="Calibri"/>
                        </a:rPr>
                        <a:t>Correct — 15 marks</a:t>
                      </a:r>
                    </a:p>
                  </a:txBody>
                  <a:tcPr marT="101600" marB="101600" marL="127000" marR="127000" anchor="t">
                    <a:solidFill>
                      <a:srgbClr val="E3F3E6"/>
                    </a:solidFill>
                  </a:tcPr>
                </a:tc>
              </a:tr>
              <a:tr h="1783080">
                <a:tc>
                  <a:txBody>
                    <a:bodyPr/>
                    <a:lstStyle/>
                    <a:p>
                      <a:pPr algn="l"/>
                      <a:r>
                        <a:rPr sz="1300" b="0" i="0">
                          <a:solidFill>
                            <a:srgbClr val="262B30"/>
                          </a:solidFill>
                          <a:latin typeface="Calibri"/>
                        </a:rPr>
                        <a:t>No gcd function defined and no gcd-like logic present anywhere in the submission.</a:t>
                      </a:r>
                    </a:p>
                  </a:txBody>
                  <a:tcPr marT="101600" marB="101600" marL="127000" marR="127000" anchor="t">
                    <a:solidFill>
                      <a:srgbClr val="FBE9E7"/>
                    </a:solidFill>
                  </a:tcPr>
                </a:tc>
                <a:tc>
                  <a:txBody>
                    <a:bodyPr/>
                    <a:lstStyle/>
                    <a:p>
                      <a:pPr algn="l"/>
                      <a:r>
                        <a:rPr sz="1300" b="0" i="0">
                          <a:solidFill>
                            <a:srgbClr val="262B30"/>
                          </a:solidFill>
                          <a:latin typeface="Calibri"/>
                        </a:rPr>
                        <a:t>A gcd function is defined but has a broken signature or structure (e.g. missing return, wrong parameter count, no identifiable loop/recursion body).</a:t>
                      </a:r>
                    </a:p>
                  </a:txBody>
                  <a:tcPr marT="101600" marB="101600" marL="127000" marR="127000" anchor="t">
                    <a:solidFill>
                      <a:srgbClr val="FDF2DA"/>
                    </a:solidFill>
                  </a:tcPr>
                </a:tc>
                <a:tc>
                  <a:txBody>
                    <a:bodyPr/>
                    <a:lstStyle/>
                    <a:p>
                      <a:pPr algn="l"/>
                      <a:r>
                        <a:rPr sz="1300" b="0" i="0">
                          <a:solidFill>
                            <a:srgbClr val="262B30"/>
                          </a:solidFill>
                          <a:latin typeface="Calibri"/>
                        </a:rPr>
                        <a:t>A gcd function with the correct signature (two parameters, returns a value) and a recognisable recursive or iterative structure is present.</a:t>
                      </a:r>
                    </a:p>
                  </a:txBody>
                  <a:tcPr marT="101600" marB="101600" marL="127000" marR="127000" anchor="t">
                    <a:solidFill>
                      <a:srgbClr val="E3F3E6"/>
                    </a:solidFill>
                  </a:tcPr>
                </a:tc>
              </a:tr>
            </a:tbl>
          </a:graphicData>
        </a:graphic>
      </p:graphicFrame>
      <p:sp>
        <p:nvSpPr>
          <p:cNvPr id="8" name="TextBox 7"/>
          <p:cNvSpPr txBox="1"/>
          <p:nvPr/>
        </p:nvSpPr>
        <p:spPr>
          <a:xfrm>
            <a:off x="548640" y="6309360"/>
            <a:ext cx="11091672" cy="320040"/>
          </a:xfrm>
          <a:prstGeom prst="rect">
            <a:avLst/>
          </a:prstGeom>
          <a:noFill/>
        </p:spPr>
        <p:txBody>
          <a:bodyPr wrap="square" anchor="t">
            <a:spAutoFit/>
          </a:bodyPr>
          <a:lstStyle/>
          <a:p>
            <a:r>
              <a:rPr sz="1100" b="0" i="1">
                <a:solidFill>
                  <a:srgbClr val="747C84"/>
                </a:solidFill>
                <a:latin typeface="Calibri"/>
              </a:rPr>
              <a:t>Every rubric point uses this same 3-bucket structure — the same criteria drive both free-marking and classification.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The four grading approaches (2×2)</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10</a:t>
            </a:r>
          </a:p>
        </p:txBody>
      </p:sp>
      <p:sp>
        <p:nvSpPr>
          <p:cNvPr id="6" name="TextBox 5"/>
          <p:cNvSpPr txBox="1"/>
          <p:nvPr/>
        </p:nvSpPr>
        <p:spPr>
          <a:xfrm>
            <a:off x="548640" y="1463040"/>
            <a:ext cx="11091672" cy="822960"/>
          </a:xfrm>
          <a:prstGeom prst="rect">
            <a:avLst/>
          </a:prstGeom>
          <a:noFill/>
        </p:spPr>
        <p:txBody>
          <a:bodyPr wrap="square" anchor="t">
            <a:spAutoFit/>
          </a:bodyPr>
          <a:lstStyle/>
          <a:p>
            <a:pPr>
              <a:spcAft>
                <a:spcPts val="800"/>
              </a:spcAft>
            </a:pPr>
            <a:r>
              <a:rPr sz="1800" b="0" i="0">
                <a:solidFill>
                  <a:srgbClr val="262B30"/>
                </a:solidFill>
                <a:latin typeface="Calibri"/>
              </a:rPr>
              <a:t>•  Two axes: rubric granularity × scoring mode. Approaches 3 &amp; 4 (classification) are the novel contribution.</a:t>
            </a:r>
          </a:p>
        </p:txBody>
      </p:sp>
      <p:graphicFrame>
        <p:nvGraphicFramePr>
          <p:cNvPr id="7" name="Table 6"/>
          <p:cNvGraphicFramePr>
            <a:graphicFrameLocks noGrp="1"/>
          </p:cNvGraphicFramePr>
          <p:nvPr/>
        </p:nvGraphicFramePr>
        <p:xfrm>
          <a:off x="2194560" y="2651760"/>
          <a:ext cx="7772400" cy="2377440"/>
        </p:xfrm>
        <a:graphic>
          <a:graphicData uri="http://schemas.openxmlformats.org/drawingml/2006/table">
            <a:tbl>
              <a:tblPr firstRow="1" bandRow="1">
                <a:tableStyleId>{5C22544A-7EE6-4342-B048-85BDC9FD1C3A}</a:tableStyleId>
              </a:tblPr>
              <a:tblGrid>
                <a:gridCol w="2743200"/>
                <a:gridCol w="2514600"/>
                <a:gridCol w="2514600"/>
              </a:tblGrid>
              <a:tr h="792480">
                <a:tc>
                  <a:txBody>
                    <a:bodyPr/>
                    <a:lstStyle/>
                    <a:p>
                      <a:pPr algn="l"/>
                      <a:r>
                        <a:rPr sz="1400" b="0" i="0">
                          <a:solidFill>
                            <a:srgbClr val="262B30"/>
                          </a:solidFill>
                          <a:latin typeface="Calibri"/>
                        </a:rPr>
                        <a:t/>
                      </a:r>
                    </a:p>
                  </a:txBody>
                  <a:tcPr marT="38100" marB="38100" marL="76200" anchor="ctr">
                    <a:solidFill>
                      <a:srgbClr val="FFFFFF"/>
                    </a:solidFill>
                  </a:tcPr>
                </a:tc>
                <a:tc>
                  <a:txBody>
                    <a:bodyPr/>
                    <a:lstStyle/>
                    <a:p>
                      <a:pPr algn="ctr"/>
                      <a:r>
                        <a:rPr sz="1400" b="1" i="0">
                          <a:solidFill>
                            <a:srgbClr val="FFFFFF"/>
                          </a:solidFill>
                          <a:latin typeface="Calibri"/>
                        </a:rPr>
                        <a:t>Whole rubric</a:t>
                      </a:r>
                    </a:p>
                  </a:txBody>
                  <a:tcPr marT="38100" marB="38100" marL="76200" anchor="ctr">
                    <a:solidFill>
                      <a:srgbClr val="1F3A5C"/>
                    </a:solidFill>
                  </a:tcPr>
                </a:tc>
                <a:tc>
                  <a:txBody>
                    <a:bodyPr/>
                    <a:lstStyle/>
                    <a:p>
                      <a:pPr algn="ctr"/>
                      <a:r>
                        <a:rPr sz="1400" b="1" i="0">
                          <a:solidFill>
                            <a:srgbClr val="FFFFFF"/>
                          </a:solidFill>
                          <a:latin typeface="Calibri"/>
                        </a:rPr>
                        <a:t>Point-by-point</a:t>
                      </a:r>
                    </a:p>
                  </a:txBody>
                  <a:tcPr marT="38100" marB="38100" marL="76200" anchor="ctr">
                    <a:solidFill>
                      <a:srgbClr val="1F3A5C"/>
                    </a:solidFill>
                  </a:tcPr>
                </a:tc>
              </a:tr>
              <a:tr h="792480">
                <a:tc>
                  <a:txBody>
                    <a:bodyPr/>
                    <a:lstStyle/>
                    <a:p>
                      <a:pPr algn="l"/>
                      <a:r>
                        <a:rPr sz="1400" b="1" i="0">
                          <a:solidFill>
                            <a:srgbClr val="FFFFFF"/>
                          </a:solidFill>
                          <a:latin typeface="Calibri"/>
                        </a:rPr>
                        <a:t>Free marks</a:t>
                      </a:r>
                    </a:p>
                  </a:txBody>
                  <a:tcPr marT="38100" marB="38100" marL="76200" anchor="ctr">
                    <a:solidFill>
                      <a:srgbClr val="1F3A5C"/>
                    </a:solidFill>
                  </a:tcPr>
                </a:tc>
                <a:tc>
                  <a:txBody>
                    <a:bodyPr/>
                    <a:lstStyle/>
                    <a:p>
                      <a:pPr algn="ctr"/>
                      <a:r>
                        <a:rPr sz="1400" b="0" i="0">
                          <a:solidFill>
                            <a:srgbClr val="262B30"/>
                          </a:solidFill>
                          <a:latin typeface="Calibri"/>
                        </a:rPr>
                        <a:t>Approach 1</a:t>
                      </a:r>
                    </a:p>
                  </a:txBody>
                  <a:tcPr marT="38100" marB="38100" marL="76200" anchor="ctr">
                    <a:solidFill>
                      <a:srgbClr val="FFFFFF"/>
                    </a:solidFill>
                  </a:tcPr>
                </a:tc>
                <a:tc>
                  <a:txBody>
                    <a:bodyPr/>
                    <a:lstStyle/>
                    <a:p>
                      <a:pPr algn="ctr"/>
                      <a:r>
                        <a:rPr sz="1400" b="0" i="0">
                          <a:solidFill>
                            <a:srgbClr val="262B30"/>
                          </a:solidFill>
                          <a:latin typeface="Calibri"/>
                        </a:rPr>
                        <a:t>Approach 2</a:t>
                      </a:r>
                    </a:p>
                  </a:txBody>
                  <a:tcPr marT="38100" marB="38100" marL="76200" anchor="ctr">
                    <a:solidFill>
                      <a:srgbClr val="FFFFFF"/>
                    </a:solidFill>
                  </a:tcPr>
                </a:tc>
              </a:tr>
              <a:tr h="792480">
                <a:tc>
                  <a:txBody>
                    <a:bodyPr/>
                    <a:lstStyle/>
                    <a:p>
                      <a:pPr algn="l"/>
                      <a:r>
                        <a:rPr sz="1400" b="1" i="0">
                          <a:solidFill>
                            <a:srgbClr val="FFFFFF"/>
                          </a:solidFill>
                          <a:latin typeface="Calibri"/>
                        </a:rPr>
                        <a:t>Classify → bucket</a:t>
                      </a:r>
                    </a:p>
                  </a:txBody>
                  <a:tcPr marT="38100" marB="38100" marL="76200" anchor="ctr">
                    <a:solidFill>
                      <a:srgbClr val="1F3A5C"/>
                    </a:solidFill>
                  </a:tcPr>
                </a:tc>
                <a:tc>
                  <a:txBody>
                    <a:bodyPr/>
                    <a:lstStyle/>
                    <a:p>
                      <a:pPr algn="ctr"/>
                      <a:r>
                        <a:rPr sz="1400" b="1" i="0">
                          <a:solidFill>
                            <a:srgbClr val="1F3A5C"/>
                          </a:solidFill>
                          <a:latin typeface="Calibri"/>
                        </a:rPr>
                        <a:t>Approach 3</a:t>
                      </a:r>
                    </a:p>
                  </a:txBody>
                  <a:tcPr marT="38100" marB="38100" marL="76200" anchor="ctr">
                    <a:solidFill>
                      <a:srgbClr val="DDECF6"/>
                    </a:solidFill>
                  </a:tcPr>
                </a:tc>
                <a:tc>
                  <a:txBody>
                    <a:bodyPr/>
                    <a:lstStyle/>
                    <a:p>
                      <a:pPr algn="ctr"/>
                      <a:r>
                        <a:rPr sz="1400" b="1" i="0">
                          <a:solidFill>
                            <a:srgbClr val="1F3A5C"/>
                          </a:solidFill>
                          <a:latin typeface="Calibri"/>
                        </a:rPr>
                        <a:t>Approach 4</a:t>
                      </a:r>
                    </a:p>
                  </a:txBody>
                  <a:tcPr marT="38100" marB="38100" marL="76200" anchor="ctr">
                    <a:solidFill>
                      <a:srgbClr val="DDECF6"/>
                    </a:solidFill>
                  </a:tcPr>
                </a:tc>
              </a:tr>
            </a:tbl>
          </a:graphicData>
        </a:graphic>
      </p:graphicFrame>
      <p:sp>
        <p:nvSpPr>
          <p:cNvPr id="8" name="TextBox 7"/>
          <p:cNvSpPr txBox="1"/>
          <p:nvPr/>
        </p:nvSpPr>
        <p:spPr>
          <a:xfrm>
            <a:off x="548640" y="5212080"/>
            <a:ext cx="11091672" cy="320040"/>
          </a:xfrm>
          <a:prstGeom prst="rect">
            <a:avLst/>
          </a:prstGeom>
          <a:noFill/>
        </p:spPr>
        <p:txBody>
          <a:bodyPr wrap="square" anchor="t">
            <a:spAutoFit/>
          </a:bodyPr>
          <a:lstStyle/>
          <a:p>
            <a:r>
              <a:rPr sz="1100" b="0" i="1">
                <a:solidFill>
                  <a:srgbClr val="747C84"/>
                </a:solidFill>
                <a:latin typeface="Calibri"/>
              </a:rPr>
              <a:t>Every approach runs 3× per (question, student, model); median = final 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DESIGN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Ground truth, repeated runs &amp; metrics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11</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Human ground truth (per-point buckets) = the yardstick for everything</a:t>
            </a:r>
          </a:p>
          <a:p>
            <a:pPr>
              <a:spcAft>
                <a:spcPts val="800"/>
              </a:spcAft>
            </a:pPr>
            <a:r>
              <a:rPr sz="1800" b="0" i="0">
                <a:solidFill>
                  <a:srgbClr val="262B30"/>
                </a:solidFill>
                <a:latin typeface="Calibri"/>
              </a:rPr>
              <a:t>•  Every case run 3× → median (self-consistency, Wang et al. 2023)</a:t>
            </a:r>
          </a:p>
          <a:p>
            <a:pPr>
              <a:spcAft>
                <a:spcPts val="800"/>
              </a:spcAft>
            </a:pPr>
            <a:r>
              <a:rPr sz="1800" b="0" i="0">
                <a:solidFill>
                  <a:srgbClr val="262B30"/>
                </a:solidFill>
                <a:latin typeface="Calibri"/>
              </a:rPr>
              <a:t>•  Metrics: MAE, Spearman ρ, Cohen’s κ, run std-dev, format-OK %, time</a:t>
            </a:r>
          </a:p>
          <a:p>
            <a:pPr>
              <a:spcAft>
                <a:spcPts val="800"/>
              </a:spcAft>
            </a:pPr>
            <a:r>
              <a:rPr sz="1800" b="0" i="0">
                <a:solidFill>
                  <a:srgbClr val="262B30"/>
                </a:solidFill>
                <a:latin typeface="Calibri"/>
              </a:rPr>
              <a:t>•  Leniency = signed bias — catches hidden strictness/generosity correlation misses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Implementation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IMPLEMENTATION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Pipeline architecture</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13</a:t>
            </a:r>
          </a:p>
        </p:txBody>
      </p:sp>
      <p:pic>
        <p:nvPicPr>
          <p:cNvPr id="6" name="Picture 5" descr="architecture_pipeline.png"/>
          <p:cNvPicPr>
            <a:picLocks noChangeAspect="1"/>
          </p:cNvPicPr>
          <p:nvPr/>
        </p:nvPicPr>
        <p:blipFill>
          <a:blip r:embed="rId2"/>
          <a:stretch>
            <a:fillRect/>
          </a:stretch>
        </p:blipFill>
        <p:spPr>
          <a:xfrm>
            <a:off x="4795509" y="1371600"/>
            <a:ext cx="2597933" cy="48920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IMPLEMENTATION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Prompting &amp; multi-backend grading</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14</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Prompt = question + sample solution + student code + rubric (whole or one point)</a:t>
            </a:r>
          </a:p>
          <a:p>
            <a:pPr>
              <a:spcAft>
                <a:spcPts val="800"/>
              </a:spcAft>
            </a:pPr>
            <a:r>
              <a:rPr sz="1800" b="0" i="0">
                <a:solidFill>
                  <a:srgbClr val="262B30"/>
                </a:solidFill>
                <a:latin typeface="Calibri"/>
              </a:rPr>
              <a:t>•  System prompt pins output to a strict, parseable format (POINT_ID / MARKS|BUCKET / FEEDBACK / TOTAL)</a:t>
            </a:r>
          </a:p>
          <a:p>
            <a:pPr>
              <a:spcAft>
                <a:spcPts val="800"/>
              </a:spcAft>
            </a:pPr>
            <a:r>
              <a:rPr sz="1800" b="0" i="0">
                <a:solidFill>
                  <a:srgbClr val="262B30"/>
                </a:solidFill>
                <a:latin typeface="Calibri"/>
              </a:rPr>
              <a:t>•  Three backends, one code path:</a:t>
            </a:r>
          </a:p>
          <a:p>
            <a:pPr lvl="1">
              <a:spcAft>
                <a:spcPts val="800"/>
              </a:spcAft>
            </a:pPr>
            <a:r>
              <a:rPr sz="1500" b="0" i="0">
                <a:solidFill>
                  <a:srgbClr val="747C84"/>
                </a:solidFill>
                <a:latin typeface="Calibri"/>
              </a:rPr>
              <a:t>–  Ollama (local) · NVIDIA NIM (cloud) · generic OpenAI-compatible (Gemini, …)</a:t>
            </a:r>
          </a:p>
          <a:p>
            <a:pPr>
              <a:spcAft>
                <a:spcPts val="800"/>
              </a:spcAft>
            </a:pPr>
            <a:r>
              <a:rPr sz="1800" b="0" i="0">
                <a:solidFill>
                  <a:srgbClr val="262B30"/>
                </a:solidFill>
                <a:latin typeface="Calibri"/>
              </a:rPr>
              <a:t>•  Swap any model without touching the grading logic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IMPLEMENTATION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Prompt design — the four approaches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15</a:t>
            </a:r>
          </a:p>
        </p:txBody>
      </p:sp>
      <p:sp>
        <p:nvSpPr>
          <p:cNvPr id="6" name="TextBox 5"/>
          <p:cNvSpPr txBox="1"/>
          <p:nvPr/>
        </p:nvSpPr>
        <p:spPr>
          <a:xfrm>
            <a:off x="548640" y="1335024"/>
            <a:ext cx="11091672" cy="320040"/>
          </a:xfrm>
          <a:prstGeom prst="rect">
            <a:avLst/>
          </a:prstGeom>
          <a:noFill/>
        </p:spPr>
        <p:txBody>
          <a:bodyPr wrap="square" anchor="t">
            <a:spAutoFit/>
          </a:bodyPr>
          <a:lstStyle/>
          <a:p>
            <a:r>
              <a:rPr sz="1200" b="0" i="1">
                <a:solidFill>
                  <a:srgbClr val="747C84"/>
                </a:solidFill>
                <a:latin typeface="Calibri"/>
              </a:rPr>
              <a:t>Same header every time (question + sample + student code). Rows = scoring mode · Columns = rubric granularity — only the instruction + output format change.</a:t>
            </a:r>
          </a:p>
        </p:txBody>
      </p:sp>
      <p:sp>
        <p:nvSpPr>
          <p:cNvPr id="7" name="TextBox 6"/>
          <p:cNvSpPr txBox="1"/>
          <p:nvPr/>
        </p:nvSpPr>
        <p:spPr>
          <a:xfrm>
            <a:off x="457200" y="1737360"/>
            <a:ext cx="5486400" cy="292608"/>
          </a:xfrm>
          <a:prstGeom prst="rect">
            <a:avLst/>
          </a:prstGeom>
          <a:noFill/>
        </p:spPr>
        <p:txBody>
          <a:bodyPr wrap="square" anchor="t">
            <a:spAutoFit/>
          </a:bodyPr>
          <a:lstStyle/>
          <a:p>
            <a:r>
              <a:rPr sz="1300" b="1" i="0">
                <a:solidFill>
                  <a:srgbClr val="2E86C1"/>
                </a:solidFill>
                <a:latin typeface="Calibri"/>
              </a:rPr>
              <a:t>Approach 1  ·  Whole rubric + Free marks</a:t>
            </a:r>
          </a:p>
        </p:txBody>
      </p:sp>
      <p:sp>
        <p:nvSpPr>
          <p:cNvPr id="8" name="Rounded Rectangle 7"/>
          <p:cNvSpPr/>
          <p:nvPr/>
        </p:nvSpPr>
        <p:spPr>
          <a:xfrm>
            <a:off x="457200" y="2029967"/>
            <a:ext cx="5486400" cy="192024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100">
                <a:solidFill>
                  <a:srgbClr val="262B30"/>
                </a:solidFill>
                <a:latin typeface="Consolas"/>
              </a:rPr>
              <a:t>Given: whole RUBRIC (all points + ranges)</a:t>
            </a:r>
          </a:p>
          <a:p>
            <a:pPr>
              <a:spcAft>
                <a:spcPts val="100"/>
              </a:spcAft>
            </a:pPr>
            <a:r>
              <a:rPr sz="1100">
                <a:solidFill>
                  <a:srgbClr val="262B30"/>
                </a:solidFill>
                <a:latin typeface="Consolas"/>
              </a:rPr>
              <a:t>Assign a numeric mark per point.</a:t>
            </a:r>
          </a:p>
          <a:p>
            <a:pPr>
              <a:spcAft>
                <a:spcPts val="100"/>
              </a:spcAft>
            </a:pPr>
            <a:r>
              <a:rPr sz="1100">
                <a:solidFill>
                  <a:srgbClr val="262B30"/>
                </a:solidFill>
                <a:latin typeface="Consolas"/>
              </a:rPr>
              <a:t> </a:t>
            </a:r>
          </a:p>
          <a:p>
            <a:pPr>
              <a:spcAft>
                <a:spcPts val="100"/>
              </a:spcAft>
            </a:pPr>
            <a:r>
              <a:rPr sz="1100">
                <a:solidFill>
                  <a:srgbClr val="262B30"/>
                </a:solidFill>
                <a:latin typeface="Consolas"/>
              </a:rPr>
              <a:t>POINT_ID: &lt;id&gt;</a:t>
            </a:r>
          </a:p>
          <a:p>
            <a:pPr>
              <a:spcAft>
                <a:spcPts val="100"/>
              </a:spcAft>
            </a:pPr>
            <a:r>
              <a:rPr sz="1100">
                <a:solidFill>
                  <a:srgbClr val="262B30"/>
                </a:solidFill>
                <a:latin typeface="Consolas"/>
              </a:rPr>
              <a:t>MARKS: &lt;number&gt;</a:t>
            </a:r>
          </a:p>
          <a:p>
            <a:pPr>
              <a:spcAft>
                <a:spcPts val="100"/>
              </a:spcAft>
            </a:pPr>
            <a:r>
              <a:rPr sz="1100">
                <a:solidFill>
                  <a:srgbClr val="262B30"/>
                </a:solidFill>
                <a:latin typeface="Consolas"/>
              </a:rPr>
              <a:t>FEEDBACK: &lt;1-2 sentences&gt;</a:t>
            </a:r>
          </a:p>
          <a:p>
            <a:pPr>
              <a:spcAft>
                <a:spcPts val="100"/>
              </a:spcAft>
            </a:pPr>
            <a:r>
              <a:rPr sz="1100">
                <a:solidFill>
                  <a:srgbClr val="262B30"/>
                </a:solidFill>
                <a:latin typeface="Consolas"/>
              </a:rPr>
              <a:t>  ... one block per point ...</a:t>
            </a:r>
          </a:p>
          <a:p>
            <a:pPr>
              <a:spcAft>
                <a:spcPts val="100"/>
              </a:spcAft>
            </a:pPr>
            <a:r>
              <a:rPr sz="1100">
                <a:solidFill>
                  <a:srgbClr val="262B30"/>
                </a:solidFill>
                <a:latin typeface="Consolas"/>
              </a:rPr>
              <a:t>TOTAL: &lt;sum of all MARKS&gt;</a:t>
            </a:r>
          </a:p>
        </p:txBody>
      </p:sp>
      <p:sp>
        <p:nvSpPr>
          <p:cNvPr id="9" name="TextBox 8"/>
          <p:cNvSpPr txBox="1"/>
          <p:nvPr/>
        </p:nvSpPr>
        <p:spPr>
          <a:xfrm>
            <a:off x="6245352" y="1737360"/>
            <a:ext cx="5486400" cy="292608"/>
          </a:xfrm>
          <a:prstGeom prst="rect">
            <a:avLst/>
          </a:prstGeom>
          <a:noFill/>
        </p:spPr>
        <p:txBody>
          <a:bodyPr wrap="square" anchor="t">
            <a:spAutoFit/>
          </a:bodyPr>
          <a:lstStyle/>
          <a:p>
            <a:r>
              <a:rPr sz="1300" b="1" i="0">
                <a:solidFill>
                  <a:srgbClr val="2E86C1"/>
                </a:solidFill>
                <a:latin typeface="Calibri"/>
              </a:rPr>
              <a:t>Approach 2  ·  Point-by-point + Free marks</a:t>
            </a:r>
          </a:p>
        </p:txBody>
      </p:sp>
      <p:sp>
        <p:nvSpPr>
          <p:cNvPr id="10" name="Rounded Rectangle 9"/>
          <p:cNvSpPr/>
          <p:nvPr/>
        </p:nvSpPr>
        <p:spPr>
          <a:xfrm>
            <a:off x="6245352" y="2029967"/>
            <a:ext cx="5486400" cy="192024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100">
                <a:solidFill>
                  <a:srgbClr val="262B30"/>
                </a:solidFill>
                <a:latin typeface="Consolas"/>
              </a:rPr>
              <a:t>Given: ONE point  [one call per point]</a:t>
            </a:r>
          </a:p>
          <a:p>
            <a:pPr>
              <a:spcAft>
                <a:spcPts val="100"/>
              </a:spcAft>
            </a:pPr>
            <a:r>
              <a:rPr sz="1100">
                <a:solidFill>
                  <a:srgbClr val="262B30"/>
                </a:solidFill>
                <a:latin typeface="Consolas"/>
              </a:rPr>
              <a:t>Assign a numeric mark for THIS point.</a:t>
            </a:r>
          </a:p>
          <a:p>
            <a:pPr>
              <a:spcAft>
                <a:spcPts val="100"/>
              </a:spcAft>
            </a:pPr>
            <a:r>
              <a:rPr sz="1100">
                <a:solidFill>
                  <a:srgbClr val="262B30"/>
                </a:solidFill>
                <a:latin typeface="Consolas"/>
              </a:rPr>
              <a:t> </a:t>
            </a:r>
          </a:p>
          <a:p>
            <a:pPr>
              <a:spcAft>
                <a:spcPts val="100"/>
              </a:spcAft>
            </a:pPr>
            <a:r>
              <a:rPr sz="1100">
                <a:solidFill>
                  <a:srgbClr val="262B30"/>
                </a:solidFill>
                <a:latin typeface="Consolas"/>
              </a:rPr>
              <a:t>MARKS: &lt;number&gt;</a:t>
            </a:r>
          </a:p>
          <a:p>
            <a:pPr>
              <a:spcAft>
                <a:spcPts val="100"/>
              </a:spcAft>
            </a:pPr>
            <a:r>
              <a:rPr sz="1100">
                <a:solidFill>
                  <a:srgbClr val="262B30"/>
                </a:solidFill>
                <a:latin typeface="Consolas"/>
              </a:rPr>
              <a:t>FEEDBACK: &lt;1-2 sentences&gt;</a:t>
            </a:r>
          </a:p>
        </p:txBody>
      </p:sp>
      <p:sp>
        <p:nvSpPr>
          <p:cNvPr id="11" name="TextBox 10"/>
          <p:cNvSpPr txBox="1"/>
          <p:nvPr/>
        </p:nvSpPr>
        <p:spPr>
          <a:xfrm>
            <a:off x="457200" y="4114800"/>
            <a:ext cx="5486400" cy="292608"/>
          </a:xfrm>
          <a:prstGeom prst="rect">
            <a:avLst/>
          </a:prstGeom>
          <a:noFill/>
        </p:spPr>
        <p:txBody>
          <a:bodyPr wrap="square" anchor="t">
            <a:spAutoFit/>
          </a:bodyPr>
          <a:lstStyle/>
          <a:p>
            <a:r>
              <a:rPr sz="1300" b="1" i="0">
                <a:solidFill>
                  <a:srgbClr val="2E86C1"/>
                </a:solidFill>
                <a:latin typeface="Calibri"/>
              </a:rPr>
              <a:t>Approach 3  ·  Whole rubric + Classify</a:t>
            </a:r>
          </a:p>
        </p:txBody>
      </p:sp>
      <p:sp>
        <p:nvSpPr>
          <p:cNvPr id="12" name="Rounded Rectangle 11"/>
          <p:cNvSpPr/>
          <p:nvPr/>
        </p:nvSpPr>
        <p:spPr>
          <a:xfrm>
            <a:off x="457200" y="4407408"/>
            <a:ext cx="5486400" cy="192024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100">
                <a:solidFill>
                  <a:srgbClr val="262B30"/>
                </a:solidFill>
                <a:latin typeface="Consolas"/>
              </a:rPr>
              <a:t>Given: whole RUBRIC (all points + buckets)</a:t>
            </a:r>
          </a:p>
          <a:p>
            <a:pPr>
              <a:spcAft>
                <a:spcPts val="100"/>
              </a:spcAft>
            </a:pPr>
            <a:r>
              <a:rPr sz="1100">
                <a:solidFill>
                  <a:srgbClr val="262B30"/>
                </a:solidFill>
                <a:latin typeface="Consolas"/>
              </a:rPr>
              <a:t>Choose ONE bucket label per point.</a:t>
            </a:r>
          </a:p>
          <a:p>
            <a:pPr>
              <a:spcAft>
                <a:spcPts val="100"/>
              </a:spcAft>
            </a:pPr>
            <a:r>
              <a:rPr sz="1100">
                <a:solidFill>
                  <a:srgbClr val="262B30"/>
                </a:solidFill>
                <a:latin typeface="Consolas"/>
              </a:rPr>
              <a:t> </a:t>
            </a:r>
          </a:p>
          <a:p>
            <a:pPr>
              <a:spcAft>
                <a:spcPts val="100"/>
              </a:spcAft>
            </a:pPr>
            <a:r>
              <a:rPr sz="1100">
                <a:solidFill>
                  <a:srgbClr val="262B30"/>
                </a:solidFill>
                <a:latin typeface="Consolas"/>
              </a:rPr>
              <a:t>POINT_ID: &lt;id&gt;</a:t>
            </a:r>
          </a:p>
          <a:p>
            <a:pPr>
              <a:spcAft>
                <a:spcPts val="100"/>
              </a:spcAft>
            </a:pPr>
            <a:r>
              <a:rPr sz="1100">
                <a:solidFill>
                  <a:srgbClr val="262B30"/>
                </a:solidFill>
                <a:latin typeface="Consolas"/>
              </a:rPr>
              <a:t>BUCKET: &lt;exact bucket label&gt;</a:t>
            </a:r>
          </a:p>
          <a:p>
            <a:pPr>
              <a:spcAft>
                <a:spcPts val="100"/>
              </a:spcAft>
            </a:pPr>
            <a:r>
              <a:rPr sz="1100">
                <a:solidFill>
                  <a:srgbClr val="262B30"/>
                </a:solidFill>
                <a:latin typeface="Consolas"/>
              </a:rPr>
              <a:t>FEEDBACK: &lt;1-2 sentences&gt;</a:t>
            </a:r>
          </a:p>
          <a:p>
            <a:pPr>
              <a:spcAft>
                <a:spcPts val="100"/>
              </a:spcAft>
            </a:pPr>
            <a:r>
              <a:rPr sz="1100">
                <a:solidFill>
                  <a:srgbClr val="262B30"/>
                </a:solidFill>
                <a:latin typeface="Consolas"/>
              </a:rPr>
              <a:t>  ... one block per point ...</a:t>
            </a:r>
          </a:p>
        </p:txBody>
      </p:sp>
      <p:sp>
        <p:nvSpPr>
          <p:cNvPr id="13" name="TextBox 12"/>
          <p:cNvSpPr txBox="1"/>
          <p:nvPr/>
        </p:nvSpPr>
        <p:spPr>
          <a:xfrm>
            <a:off x="6245352" y="4114800"/>
            <a:ext cx="5486400" cy="292608"/>
          </a:xfrm>
          <a:prstGeom prst="rect">
            <a:avLst/>
          </a:prstGeom>
          <a:noFill/>
        </p:spPr>
        <p:txBody>
          <a:bodyPr wrap="square" anchor="t">
            <a:spAutoFit/>
          </a:bodyPr>
          <a:lstStyle/>
          <a:p>
            <a:r>
              <a:rPr sz="1300" b="1" i="0">
                <a:solidFill>
                  <a:srgbClr val="2E86C1"/>
                </a:solidFill>
                <a:latin typeface="Calibri"/>
              </a:rPr>
              <a:t>Approach 4  ·  Point-by-point + Classify</a:t>
            </a:r>
          </a:p>
        </p:txBody>
      </p:sp>
      <p:sp>
        <p:nvSpPr>
          <p:cNvPr id="14" name="Rounded Rectangle 13"/>
          <p:cNvSpPr/>
          <p:nvPr/>
        </p:nvSpPr>
        <p:spPr>
          <a:xfrm>
            <a:off x="6245352" y="4407408"/>
            <a:ext cx="5486400" cy="1920240"/>
          </a:xfrm>
          <a:prstGeom prst="roundRect">
            <a:avLst/>
          </a:prstGeom>
          <a:solidFill>
            <a:srgbClr val="F5F7F9"/>
          </a:solidFill>
          <a:ln w="9525">
            <a:solidFill>
              <a:srgbClr val="A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101600" bIns="101600"/>
          <a:lstStyle/>
          <a:p>
            <a:pPr algn="ctr">
              <a:spcAft>
                <a:spcPts val="100"/>
              </a:spcAft>
            </a:pPr>
            <a:r>
              <a:rPr sz="1100">
                <a:solidFill>
                  <a:srgbClr val="262B30"/>
                </a:solidFill>
                <a:latin typeface="Consolas"/>
              </a:rPr>
              <a:t>Given: ONE point  [one call per point]</a:t>
            </a:r>
          </a:p>
          <a:p>
            <a:pPr>
              <a:spcAft>
                <a:spcPts val="100"/>
              </a:spcAft>
            </a:pPr>
            <a:r>
              <a:rPr sz="1100">
                <a:solidFill>
                  <a:srgbClr val="262B30"/>
                </a:solidFill>
                <a:latin typeface="Consolas"/>
              </a:rPr>
              <a:t>Choose ONE bucket label for THIS point.</a:t>
            </a:r>
          </a:p>
          <a:p>
            <a:pPr>
              <a:spcAft>
                <a:spcPts val="100"/>
              </a:spcAft>
            </a:pPr>
            <a:r>
              <a:rPr sz="1100">
                <a:solidFill>
                  <a:srgbClr val="262B30"/>
                </a:solidFill>
                <a:latin typeface="Consolas"/>
              </a:rPr>
              <a:t> </a:t>
            </a:r>
          </a:p>
          <a:p>
            <a:pPr>
              <a:spcAft>
                <a:spcPts val="100"/>
              </a:spcAft>
            </a:pPr>
            <a:r>
              <a:rPr sz="1100">
                <a:solidFill>
                  <a:srgbClr val="262B30"/>
                </a:solidFill>
                <a:latin typeface="Consolas"/>
              </a:rPr>
              <a:t>BUCKET: &lt;exact bucket label&gt;</a:t>
            </a:r>
          </a:p>
          <a:p>
            <a:pPr>
              <a:spcAft>
                <a:spcPts val="100"/>
              </a:spcAft>
            </a:pPr>
            <a:r>
              <a:rPr sz="1100">
                <a:solidFill>
                  <a:srgbClr val="262B30"/>
                </a:solidFill>
                <a:latin typeface="Consolas"/>
              </a:rPr>
              <a:t>FEEDBACK: &lt;1-2 sentences&gt;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IMPLEMENTATION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Engineering realities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16</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Robust response parser + a format-OK flag on every response</a:t>
            </a:r>
          </a:p>
          <a:p>
            <a:pPr>
              <a:spcAft>
                <a:spcPts val="800"/>
              </a:spcAft>
            </a:pPr>
            <a:r>
              <a:rPr sz="1800" b="0" i="0">
                <a:solidFill>
                  <a:srgbClr val="262B30"/>
                </a:solidFill>
                <a:latin typeface="Calibri"/>
              </a:rPr>
              <a:t>•  Retries on timeout/empty; completed runs skipped → long runs restartable</a:t>
            </a:r>
          </a:p>
          <a:p>
            <a:pPr>
              <a:spcAft>
                <a:spcPts val="800"/>
              </a:spcAft>
            </a:pPr>
            <a:r>
              <a:rPr sz="1800" b="0" i="0">
                <a:solidFill>
                  <a:srgbClr val="262B30"/>
                </a:solidFill>
                <a:latin typeface="Calibri"/>
              </a:rPr>
              <a:t>•  Fixed a real bug: a reasoning model exhausted its token budget “thinking”</a:t>
            </a:r>
          </a:p>
          <a:p>
            <a:pPr lvl="1">
              <a:spcAft>
                <a:spcPts val="800"/>
              </a:spcAft>
            </a:pPr>
            <a:r>
              <a:rPr sz="1500" b="0" i="0">
                <a:solidFill>
                  <a:srgbClr val="747C84"/>
                </a:solidFill>
                <a:latin typeface="Calibri"/>
              </a:rPr>
              <a:t>–  returned empty → disabled thinking-mode for that model</a:t>
            </a:r>
          </a:p>
          <a:p>
            <a:pPr>
              <a:spcAft>
                <a:spcPts val="800"/>
              </a:spcAft>
            </a:pPr>
            <a:r>
              <a:rPr sz="1800" b="0" i="0">
                <a:solidFill>
                  <a:srgbClr val="262B30"/>
                </a:solidFill>
                <a:latin typeface="Calibri"/>
              </a:rPr>
              <a:t>•  These details are why the results are trustworthy, not noisy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Experiments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Two-phase experimental design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18</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Phase 1 — Model selection (controlled, synthetic set)</a:t>
            </a:r>
          </a:p>
          <a:p>
            <a:pPr lvl="1">
              <a:spcAft>
                <a:spcPts val="800"/>
              </a:spcAft>
            </a:pPr>
            <a:r>
              <a:rPr sz="1500" b="0" i="0">
                <a:solidFill>
                  <a:srgbClr val="747C84"/>
                </a:solidFill>
                <a:latin typeface="Calibri"/>
              </a:rPr>
              <a:t>–  10 questions × correct/semi/wrong × 5 models × 4 approaches × 3 runs = 1,800 gradings</a:t>
            </a:r>
          </a:p>
          <a:p>
            <a:pPr>
              <a:spcAft>
                <a:spcPts val="800"/>
              </a:spcAft>
            </a:pPr>
            <a:r>
              <a:rPr sz="1800" b="0" i="0">
                <a:solidFill>
                  <a:srgbClr val="262B30"/>
                </a:solidFill>
                <a:latin typeface="Calibri"/>
              </a:rPr>
              <a:t>•  Phase 2 — RQ study with the chosen models vs human grades</a:t>
            </a:r>
          </a:p>
          <a:p>
            <a:pPr>
              <a:spcAft>
                <a:spcPts val="800"/>
              </a:spcAft>
            </a:pPr>
            <a:r>
              <a:rPr sz="1800" b="0" i="0">
                <a:solidFill>
                  <a:srgbClr val="262B30"/>
                </a:solidFill>
                <a:latin typeface="Calibri"/>
              </a:rPr>
              <a:t>•  First earn trust in a model, then use it to study how to grade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Phase 1 — Model selection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19</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Choose the best local + cloud model from 5 candidates</a:t>
            </a:r>
          </a:p>
          <a:p>
            <a:pPr>
              <a:spcAft>
                <a:spcPts val="800"/>
              </a:spcAft>
            </a:pPr>
            <a:r>
              <a:rPr sz="1800" b="0" i="0">
                <a:solidFill>
                  <a:srgbClr val="262B30"/>
                </a:solidFill>
                <a:latin typeface="Calibri"/>
              </a:rPr>
              <a:t>•  Judged on MAE, stability, format compliance, leniency, and speed</a:t>
            </a:r>
          </a:p>
          <a:p>
            <a:pPr>
              <a:spcAft>
                <a:spcPts val="800"/>
              </a:spcAft>
            </a:pPr>
            <a:r>
              <a:rPr sz="1800" b="0" i="0">
                <a:solidFill>
                  <a:srgbClr val="262B30"/>
                </a:solidFill>
                <a:latin typeface="Calibri"/>
              </a:rPr>
              <a:t>•  Chosen: Qwen3:14b (local) + gpt-oss-120b (cloud)</a:t>
            </a:r>
          </a:p>
          <a:p>
            <a:pPr>
              <a:spcAft>
                <a:spcPts val="800"/>
              </a:spcAft>
            </a:pPr>
            <a:r>
              <a:rPr sz="1800" b="0" i="0">
                <a:solidFill>
                  <a:srgbClr val="262B30"/>
                </a:solidFill>
                <a:latin typeface="Calibri"/>
              </a:rPr>
              <a:t>•  Next: full comparison table, then MAE / stability / format-failure graphs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MODEL SELECTION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Model comparison — 5 candidates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20</a:t>
            </a:r>
          </a:p>
        </p:txBody>
      </p:sp>
      <p:graphicFrame>
        <p:nvGraphicFramePr>
          <p:cNvPr id="6" name="Table 5"/>
          <p:cNvGraphicFramePr>
            <a:graphicFrameLocks noGrp="1"/>
          </p:cNvGraphicFramePr>
          <p:nvPr/>
        </p:nvGraphicFramePr>
        <p:xfrm>
          <a:off x="365760" y="1737360"/>
          <a:ext cx="11457432" cy="2834640"/>
        </p:xfrm>
        <a:graphic>
          <a:graphicData uri="http://schemas.openxmlformats.org/drawingml/2006/table">
            <a:tbl>
              <a:tblPr firstRow="1" bandRow="1">
                <a:tableStyleId>{5C22544A-7EE6-4342-B048-85BDC9FD1C3A}</a:tableStyleId>
              </a:tblPr>
              <a:tblGrid>
                <a:gridCol w="2880360"/>
                <a:gridCol w="1225296"/>
                <a:gridCol w="1225296"/>
                <a:gridCol w="1225296"/>
                <a:gridCol w="1225296"/>
                <a:gridCol w="1225296"/>
                <a:gridCol w="1225296"/>
                <a:gridCol w="1225296"/>
              </a:tblGrid>
              <a:tr h="472440">
                <a:tc>
                  <a:txBody>
                    <a:bodyPr/>
                    <a:lstStyle/>
                    <a:p>
                      <a:pPr algn="l"/>
                      <a:r>
                        <a:rPr sz="1200" b="1" i="0">
                          <a:solidFill>
                            <a:srgbClr val="FFFFFF"/>
                          </a:solidFill>
                          <a:latin typeface="Calibri"/>
                        </a:rPr>
                        <a:t>Model</a:t>
                      </a:r>
                    </a:p>
                  </a:txBody>
                  <a:tcPr marT="38100" marB="38100" marL="76200" anchor="ctr">
                    <a:solidFill>
                      <a:srgbClr val="1F3A5C"/>
                    </a:solidFill>
                  </a:tcPr>
                </a:tc>
                <a:tc>
                  <a:txBody>
                    <a:bodyPr/>
                    <a:lstStyle/>
                    <a:p>
                      <a:pPr algn="ctr"/>
                      <a:r>
                        <a:rPr sz="1200" b="1" i="0">
                          <a:solidFill>
                            <a:srgbClr val="FFFFFF"/>
                          </a:solidFill>
                          <a:latin typeface="Calibri"/>
                        </a:rPr>
                        <a:t>MAE ↓</a:t>
                      </a:r>
                    </a:p>
                  </a:txBody>
                  <a:tcPr marT="38100" marB="38100" marL="76200" anchor="ctr">
                    <a:solidFill>
                      <a:srgbClr val="1F3A5C"/>
                    </a:solidFill>
                  </a:tcPr>
                </a:tc>
                <a:tc>
                  <a:txBody>
                    <a:bodyPr/>
                    <a:lstStyle/>
                    <a:p>
                      <a:pPr algn="ctr"/>
                      <a:r>
                        <a:rPr sz="1200" b="1" i="0">
                          <a:solidFill>
                            <a:srgbClr val="FFFFFF"/>
                          </a:solidFill>
                          <a:latin typeface="Calibri"/>
                        </a:rPr>
                        <a:t>ρ ↑</a:t>
                      </a:r>
                    </a:p>
                  </a:txBody>
                  <a:tcPr marT="38100" marB="38100" marL="76200" anchor="ctr">
                    <a:solidFill>
                      <a:srgbClr val="1F3A5C"/>
                    </a:solidFill>
                  </a:tcPr>
                </a:tc>
                <a:tc>
                  <a:txBody>
                    <a:bodyPr/>
                    <a:lstStyle/>
                    <a:p>
                      <a:pPr algn="ctr"/>
                      <a:r>
                        <a:rPr sz="1200" b="1" i="0">
                          <a:solidFill>
                            <a:srgbClr val="FFFFFF"/>
                          </a:solidFill>
                          <a:latin typeface="Calibri"/>
                        </a:rPr>
                        <a:t>κ ↑</a:t>
                      </a:r>
                    </a:p>
                  </a:txBody>
                  <a:tcPr marT="38100" marB="38100" marL="76200" anchor="ctr">
                    <a:solidFill>
                      <a:srgbClr val="1F3A5C"/>
                    </a:solidFill>
                  </a:tcPr>
                </a:tc>
                <a:tc>
                  <a:txBody>
                    <a:bodyPr/>
                    <a:lstStyle/>
                    <a:p>
                      <a:pPr algn="ctr"/>
                      <a:r>
                        <a:rPr sz="1200" b="1" i="0">
                          <a:solidFill>
                            <a:srgbClr val="FFFFFF"/>
                          </a:solidFill>
                          <a:latin typeface="Calibri"/>
                        </a:rPr>
                        <a:t>Leniency →0</a:t>
                      </a:r>
                    </a:p>
                  </a:txBody>
                  <a:tcPr marT="38100" marB="38100" marL="76200" anchor="ctr">
                    <a:solidFill>
                      <a:srgbClr val="1F3A5C"/>
                    </a:solidFill>
                  </a:tcPr>
                </a:tc>
                <a:tc>
                  <a:txBody>
                    <a:bodyPr/>
                    <a:lstStyle/>
                    <a:p>
                      <a:pPr algn="ctr"/>
                      <a:r>
                        <a:rPr sz="1200" b="1" i="0">
                          <a:solidFill>
                            <a:srgbClr val="FFFFFF"/>
                          </a:solidFill>
                          <a:latin typeface="Calibri"/>
                        </a:rPr>
                        <a:t>Max dev ↓</a:t>
                      </a:r>
                    </a:p>
                  </a:txBody>
                  <a:tcPr marT="38100" marB="38100" marL="76200" anchor="ctr">
                    <a:solidFill>
                      <a:srgbClr val="1F3A5C"/>
                    </a:solidFill>
                  </a:tcPr>
                </a:tc>
                <a:tc>
                  <a:txBody>
                    <a:bodyPr/>
                    <a:lstStyle/>
                    <a:p>
                      <a:pPr algn="ctr"/>
                      <a:r>
                        <a:rPr sz="1200" b="1" i="0">
                          <a:solidFill>
                            <a:srgbClr val="FFFFFF"/>
                          </a:solidFill>
                          <a:latin typeface="Calibri"/>
                        </a:rPr>
                        <a:t>Format ↑</a:t>
                      </a:r>
                    </a:p>
                  </a:txBody>
                  <a:tcPr marT="38100" marB="38100" marL="76200" anchor="ctr">
                    <a:solidFill>
                      <a:srgbClr val="1F3A5C"/>
                    </a:solidFill>
                  </a:tcPr>
                </a:tc>
                <a:tc>
                  <a:txBody>
                    <a:bodyPr/>
                    <a:lstStyle/>
                    <a:p>
                      <a:pPr algn="ctr"/>
                      <a:r>
                        <a:rPr sz="1200" b="1" i="0">
                          <a:solidFill>
                            <a:srgbClr val="FFFFFF"/>
                          </a:solidFill>
                          <a:latin typeface="Calibri"/>
                        </a:rPr>
                        <a:t>Time(s) ↓</a:t>
                      </a:r>
                    </a:p>
                  </a:txBody>
                  <a:tcPr marT="38100" marB="38100" marL="76200" anchor="ctr">
                    <a:solidFill>
                      <a:srgbClr val="1F3A5C"/>
                    </a:solidFill>
                  </a:tcPr>
                </a:tc>
              </a:tr>
              <a:tr h="472440">
                <a:tc>
                  <a:txBody>
                    <a:bodyPr/>
                    <a:lstStyle/>
                    <a:p>
                      <a:pPr algn="l"/>
                      <a:r>
                        <a:rPr sz="1200" b="0" i="0">
                          <a:solidFill>
                            <a:srgbClr val="262B30"/>
                          </a:solidFill>
                          <a:latin typeface="Calibri"/>
                        </a:rPr>
                        <a:t>devstral-small-2</a:t>
                      </a:r>
                    </a:p>
                  </a:txBody>
                  <a:tcPr marT="38100" marB="38100" marL="76200" anchor="ctr">
                    <a:solidFill>
                      <a:srgbClr val="FFFFFF"/>
                    </a:solidFill>
                  </a:tcPr>
                </a:tc>
                <a:tc>
                  <a:txBody>
                    <a:bodyPr/>
                    <a:lstStyle/>
                    <a:p>
                      <a:pPr algn="ctr"/>
                      <a:r>
                        <a:rPr sz="1200" b="0" i="0">
                          <a:solidFill>
                            <a:srgbClr val="262B30"/>
                          </a:solidFill>
                          <a:latin typeface="Calibri"/>
                        </a:rPr>
                        <a:t>6.65</a:t>
                      </a:r>
                    </a:p>
                  </a:txBody>
                  <a:tcPr marT="38100" marB="38100" marL="76200" anchor="ctr">
                    <a:solidFill>
                      <a:srgbClr val="FFFFFF"/>
                    </a:solidFill>
                  </a:tcPr>
                </a:tc>
                <a:tc>
                  <a:txBody>
                    <a:bodyPr/>
                    <a:lstStyle/>
                    <a:p>
                      <a:pPr algn="ctr"/>
                      <a:r>
                        <a:rPr sz="1200" b="0" i="0">
                          <a:solidFill>
                            <a:srgbClr val="262B30"/>
                          </a:solidFill>
                          <a:latin typeface="Calibri"/>
                        </a:rPr>
                        <a:t>0.942</a:t>
                      </a:r>
                    </a:p>
                  </a:txBody>
                  <a:tcPr marT="38100" marB="38100" marL="76200" anchor="ctr">
                    <a:solidFill>
                      <a:srgbClr val="FFFFFF"/>
                    </a:solidFill>
                  </a:tcPr>
                </a:tc>
                <a:tc>
                  <a:txBody>
                    <a:bodyPr/>
                    <a:lstStyle/>
                    <a:p>
                      <a:pPr algn="ctr"/>
                      <a:r>
                        <a:rPr sz="1200" b="0" i="0">
                          <a:solidFill>
                            <a:srgbClr val="262B30"/>
                          </a:solidFill>
                          <a:latin typeface="Calibri"/>
                        </a:rPr>
                        <a:t>0.684</a:t>
                      </a:r>
                    </a:p>
                  </a:txBody>
                  <a:tcPr marT="38100" marB="38100" marL="76200" anchor="ctr">
                    <a:solidFill>
                      <a:srgbClr val="FFFFFF"/>
                    </a:solidFill>
                  </a:tcPr>
                </a:tc>
                <a:tc>
                  <a:txBody>
                    <a:bodyPr/>
                    <a:lstStyle/>
                    <a:p>
                      <a:pPr algn="ctr"/>
                      <a:r>
                        <a:rPr sz="1200" b="0" i="0">
                          <a:solidFill>
                            <a:srgbClr val="262B30"/>
                          </a:solidFill>
                          <a:latin typeface="Calibri"/>
                        </a:rPr>
                        <a:t>−2.78</a:t>
                      </a:r>
                    </a:p>
                  </a:txBody>
                  <a:tcPr marT="38100" marB="38100" marL="76200" anchor="ctr">
                    <a:solidFill>
                      <a:srgbClr val="FFFFFF"/>
                    </a:solidFill>
                  </a:tcPr>
                </a:tc>
                <a:tc>
                  <a:txBody>
                    <a:bodyPr/>
                    <a:lstStyle/>
                    <a:p>
                      <a:pPr algn="ctr"/>
                      <a:r>
                        <a:rPr sz="1200" b="0" i="0">
                          <a:solidFill>
                            <a:srgbClr val="262B30"/>
                          </a:solidFill>
                          <a:latin typeface="Calibri"/>
                        </a:rPr>
                        <a:t>2.28</a:t>
                      </a:r>
                    </a:p>
                  </a:txBody>
                  <a:tcPr marT="38100" marB="38100" marL="76200" anchor="ctr">
                    <a:solidFill>
                      <a:srgbClr val="FFFFFF"/>
                    </a:solidFill>
                  </a:tcPr>
                </a:tc>
                <a:tc>
                  <a:txBody>
                    <a:bodyPr/>
                    <a:lstStyle/>
                    <a:p>
                      <a:pPr algn="ctr"/>
                      <a:r>
                        <a:rPr sz="1200" b="0" i="0">
                          <a:solidFill>
                            <a:srgbClr val="262B30"/>
                          </a:solidFill>
                          <a:latin typeface="Calibri"/>
                        </a:rPr>
                        <a:t>100.0%</a:t>
                      </a:r>
                    </a:p>
                  </a:txBody>
                  <a:tcPr marT="38100" marB="38100" marL="76200" anchor="ctr">
                    <a:solidFill>
                      <a:srgbClr val="FFFFFF"/>
                    </a:solidFill>
                  </a:tcPr>
                </a:tc>
                <a:tc>
                  <a:txBody>
                    <a:bodyPr/>
                    <a:lstStyle/>
                    <a:p>
                      <a:pPr algn="ctr"/>
                      <a:r>
                        <a:rPr sz="1200" b="0" i="0">
                          <a:solidFill>
                            <a:srgbClr val="262B30"/>
                          </a:solidFill>
                          <a:latin typeface="Calibri"/>
                        </a:rPr>
                        <a:t>23.9</a:t>
                      </a:r>
                    </a:p>
                  </a:txBody>
                  <a:tcPr marT="38100" marB="38100" marL="76200" anchor="ctr">
                    <a:solidFill>
                      <a:srgbClr val="FFFFFF"/>
                    </a:solidFill>
                  </a:tcPr>
                </a:tc>
              </a:tr>
              <a:tr h="472440">
                <a:tc>
                  <a:txBody>
                    <a:bodyPr/>
                    <a:lstStyle/>
                    <a:p>
                      <a:pPr algn="l"/>
                      <a:r>
                        <a:rPr sz="1200" b="1" i="0">
                          <a:solidFill>
                            <a:srgbClr val="1F3A5C"/>
                          </a:solidFill>
                          <a:latin typeface="Calibri"/>
                        </a:rPr>
                        <a:t>Qwen3:14b</a:t>
                      </a:r>
                    </a:p>
                  </a:txBody>
                  <a:tcPr marT="38100" marB="38100" marL="76200" anchor="ctr">
                    <a:solidFill>
                      <a:srgbClr val="DDECF6"/>
                    </a:solidFill>
                  </a:tcPr>
                </a:tc>
                <a:tc>
                  <a:txBody>
                    <a:bodyPr/>
                    <a:lstStyle/>
                    <a:p>
                      <a:pPr algn="ctr"/>
                      <a:r>
                        <a:rPr sz="1200" b="0" i="0">
                          <a:solidFill>
                            <a:srgbClr val="1F3A5C"/>
                          </a:solidFill>
                          <a:latin typeface="Calibri"/>
                        </a:rPr>
                        <a:t>6.19</a:t>
                      </a:r>
                    </a:p>
                  </a:txBody>
                  <a:tcPr marT="38100" marB="38100" marL="76200" anchor="ctr">
                    <a:solidFill>
                      <a:srgbClr val="DDECF6"/>
                    </a:solidFill>
                  </a:tcPr>
                </a:tc>
                <a:tc>
                  <a:txBody>
                    <a:bodyPr/>
                    <a:lstStyle/>
                    <a:p>
                      <a:pPr algn="ctr"/>
                      <a:r>
                        <a:rPr sz="1200" b="0" i="0">
                          <a:solidFill>
                            <a:srgbClr val="1F3A5C"/>
                          </a:solidFill>
                          <a:latin typeface="Calibri"/>
                        </a:rPr>
                        <a:t>0.936</a:t>
                      </a:r>
                    </a:p>
                  </a:txBody>
                  <a:tcPr marT="38100" marB="38100" marL="76200" anchor="ctr">
                    <a:solidFill>
                      <a:srgbClr val="DDECF6"/>
                    </a:solidFill>
                  </a:tcPr>
                </a:tc>
                <a:tc>
                  <a:txBody>
                    <a:bodyPr/>
                    <a:lstStyle/>
                    <a:p>
                      <a:pPr algn="ctr"/>
                      <a:r>
                        <a:rPr sz="1200" b="0" i="0">
                          <a:solidFill>
                            <a:srgbClr val="1F3A5C"/>
                          </a:solidFill>
                          <a:latin typeface="Calibri"/>
                        </a:rPr>
                        <a:t>0.735</a:t>
                      </a:r>
                    </a:p>
                  </a:txBody>
                  <a:tcPr marT="38100" marB="38100" marL="76200" anchor="ctr">
                    <a:solidFill>
                      <a:srgbClr val="DDECF6"/>
                    </a:solidFill>
                  </a:tcPr>
                </a:tc>
                <a:tc>
                  <a:txBody>
                    <a:bodyPr/>
                    <a:lstStyle/>
                    <a:p>
                      <a:pPr algn="ctr"/>
                      <a:r>
                        <a:rPr sz="1200" b="0" i="0">
                          <a:solidFill>
                            <a:srgbClr val="1F3A5C"/>
                          </a:solidFill>
                          <a:latin typeface="Calibri"/>
                        </a:rPr>
                        <a:t>+0.78</a:t>
                      </a:r>
                    </a:p>
                  </a:txBody>
                  <a:tcPr marT="38100" marB="38100" marL="76200" anchor="ctr">
                    <a:solidFill>
                      <a:srgbClr val="DDECF6"/>
                    </a:solidFill>
                  </a:tcPr>
                </a:tc>
                <a:tc>
                  <a:txBody>
                    <a:bodyPr/>
                    <a:lstStyle/>
                    <a:p>
                      <a:pPr algn="ctr"/>
                      <a:r>
                        <a:rPr sz="1200" b="0" i="0">
                          <a:solidFill>
                            <a:srgbClr val="1F3A5C"/>
                          </a:solidFill>
                          <a:latin typeface="Calibri"/>
                        </a:rPr>
                        <a:t>5.71</a:t>
                      </a:r>
                    </a:p>
                  </a:txBody>
                  <a:tcPr marT="38100" marB="38100" marL="76200" anchor="ctr">
                    <a:solidFill>
                      <a:srgbClr val="DDECF6"/>
                    </a:solidFill>
                  </a:tcPr>
                </a:tc>
                <a:tc>
                  <a:txBody>
                    <a:bodyPr/>
                    <a:lstStyle/>
                    <a:p>
                      <a:pPr algn="ctr"/>
                      <a:r>
                        <a:rPr sz="1200" b="0" i="0">
                          <a:solidFill>
                            <a:srgbClr val="1F3A5C"/>
                          </a:solidFill>
                          <a:latin typeface="Calibri"/>
                        </a:rPr>
                        <a:t>98.6%</a:t>
                      </a:r>
                    </a:p>
                  </a:txBody>
                  <a:tcPr marT="38100" marB="38100" marL="76200" anchor="ctr">
                    <a:solidFill>
                      <a:srgbClr val="DDECF6"/>
                    </a:solidFill>
                  </a:tcPr>
                </a:tc>
                <a:tc>
                  <a:txBody>
                    <a:bodyPr/>
                    <a:lstStyle/>
                    <a:p>
                      <a:pPr algn="ctr"/>
                      <a:r>
                        <a:rPr sz="1200" b="0" i="0">
                          <a:solidFill>
                            <a:srgbClr val="1F3A5C"/>
                          </a:solidFill>
                          <a:latin typeface="Calibri"/>
                        </a:rPr>
                        <a:t>62.9</a:t>
                      </a:r>
                    </a:p>
                  </a:txBody>
                  <a:tcPr marT="38100" marB="38100" marL="76200" anchor="ctr">
                    <a:solidFill>
                      <a:srgbClr val="DDECF6"/>
                    </a:solidFill>
                  </a:tcPr>
                </a:tc>
              </a:tr>
              <a:tr h="472440">
                <a:tc>
                  <a:txBody>
                    <a:bodyPr/>
                    <a:lstStyle/>
                    <a:p>
                      <a:pPr algn="l"/>
                      <a:r>
                        <a:rPr sz="1200" b="0" i="0">
                          <a:solidFill>
                            <a:srgbClr val="747C84"/>
                          </a:solidFill>
                          <a:latin typeface="Calibri"/>
                        </a:rPr>
                        <a:t>gemma4:26b</a:t>
                      </a:r>
                    </a:p>
                  </a:txBody>
                  <a:tcPr marT="38100" marB="38100" marL="76200" anchor="ctr">
                    <a:solidFill>
                      <a:srgbClr val="F5F5F5"/>
                    </a:solidFill>
                  </a:tcPr>
                </a:tc>
                <a:tc>
                  <a:txBody>
                    <a:bodyPr/>
                    <a:lstStyle/>
                    <a:p>
                      <a:pPr algn="ctr"/>
                      <a:r>
                        <a:rPr sz="1200" b="0" i="0">
                          <a:solidFill>
                            <a:srgbClr val="747C84"/>
                          </a:solidFill>
                          <a:latin typeface="Calibri"/>
                        </a:rPr>
                        <a:t>8.89</a:t>
                      </a:r>
                    </a:p>
                  </a:txBody>
                  <a:tcPr marT="38100" marB="38100" marL="76200" anchor="ctr">
                    <a:solidFill>
                      <a:srgbClr val="F5F5F5"/>
                    </a:solidFill>
                  </a:tcPr>
                </a:tc>
                <a:tc>
                  <a:txBody>
                    <a:bodyPr/>
                    <a:lstStyle/>
                    <a:p>
                      <a:pPr algn="ctr"/>
                      <a:r>
                        <a:rPr sz="1200" b="0" i="0">
                          <a:solidFill>
                            <a:srgbClr val="747C84"/>
                          </a:solidFill>
                          <a:latin typeface="Calibri"/>
                        </a:rPr>
                        <a:t>0.857*</a:t>
                      </a:r>
                    </a:p>
                  </a:txBody>
                  <a:tcPr marT="38100" marB="38100" marL="76200" anchor="ctr">
                    <a:solidFill>
                      <a:srgbClr val="F5F5F5"/>
                    </a:solidFill>
                  </a:tcPr>
                </a:tc>
                <a:tc>
                  <a:txBody>
                    <a:bodyPr/>
                    <a:lstStyle/>
                    <a:p>
                      <a:pPr algn="ctr"/>
                      <a:r>
                        <a:rPr sz="1200" b="0" i="0">
                          <a:solidFill>
                            <a:srgbClr val="747C84"/>
                          </a:solidFill>
                          <a:latin typeface="Calibri"/>
                        </a:rPr>
                        <a:t>0.698*</a:t>
                      </a:r>
                    </a:p>
                  </a:txBody>
                  <a:tcPr marT="38100" marB="38100" marL="76200" anchor="ctr">
                    <a:solidFill>
                      <a:srgbClr val="F5F5F5"/>
                    </a:solidFill>
                  </a:tcPr>
                </a:tc>
                <a:tc>
                  <a:txBody>
                    <a:bodyPr/>
                    <a:lstStyle/>
                    <a:p>
                      <a:pPr algn="ctr"/>
                      <a:r>
                        <a:rPr sz="1200" b="0" i="0">
                          <a:solidFill>
                            <a:srgbClr val="747C84"/>
                          </a:solidFill>
                          <a:latin typeface="Calibri"/>
                        </a:rPr>
                        <a:t>−1.14</a:t>
                      </a:r>
                    </a:p>
                  </a:txBody>
                  <a:tcPr marT="38100" marB="38100" marL="76200" anchor="ctr">
                    <a:solidFill>
                      <a:srgbClr val="F5F5F5"/>
                    </a:solidFill>
                  </a:tcPr>
                </a:tc>
                <a:tc>
                  <a:txBody>
                    <a:bodyPr/>
                    <a:lstStyle/>
                    <a:p>
                      <a:pPr algn="ctr"/>
                      <a:r>
                        <a:rPr sz="1200" b="0" i="0">
                          <a:solidFill>
                            <a:srgbClr val="747C84"/>
                          </a:solidFill>
                          <a:latin typeface="Calibri"/>
                        </a:rPr>
                        <a:t>8.65</a:t>
                      </a:r>
                    </a:p>
                  </a:txBody>
                  <a:tcPr marT="38100" marB="38100" marL="76200" anchor="ctr">
                    <a:solidFill>
                      <a:srgbClr val="F5F5F5"/>
                    </a:solidFill>
                  </a:tcPr>
                </a:tc>
                <a:tc>
                  <a:txBody>
                    <a:bodyPr/>
                    <a:lstStyle/>
                    <a:p>
                      <a:pPr algn="ctr"/>
                      <a:r>
                        <a:rPr sz="1200" b="0" i="0">
                          <a:solidFill>
                            <a:srgbClr val="747C84"/>
                          </a:solidFill>
                          <a:latin typeface="Calibri"/>
                        </a:rPr>
                        <a:t>90.6%</a:t>
                      </a:r>
                    </a:p>
                  </a:txBody>
                  <a:tcPr marT="38100" marB="38100" marL="76200" anchor="ctr">
                    <a:solidFill>
                      <a:srgbClr val="F5F5F5"/>
                    </a:solidFill>
                  </a:tcPr>
                </a:tc>
                <a:tc>
                  <a:txBody>
                    <a:bodyPr/>
                    <a:lstStyle/>
                    <a:p>
                      <a:pPr algn="ctr"/>
                      <a:r>
                        <a:rPr sz="1200" b="0" i="0">
                          <a:solidFill>
                            <a:srgbClr val="747C84"/>
                          </a:solidFill>
                          <a:latin typeface="Calibri"/>
                        </a:rPr>
                        <a:t>106.3</a:t>
                      </a:r>
                    </a:p>
                  </a:txBody>
                  <a:tcPr marT="38100" marB="38100" marL="76200" anchor="ctr">
                    <a:solidFill>
                      <a:srgbClr val="F5F5F5"/>
                    </a:solidFill>
                  </a:tcPr>
                </a:tc>
              </a:tr>
              <a:tr h="472440">
                <a:tc>
                  <a:txBody>
                    <a:bodyPr/>
                    <a:lstStyle/>
                    <a:p>
                      <a:pPr algn="l"/>
                      <a:r>
                        <a:rPr sz="1200" b="0" i="0">
                          <a:solidFill>
                            <a:srgbClr val="262B30"/>
                          </a:solidFill>
                          <a:latin typeface="Calibri"/>
                        </a:rPr>
                        <a:t>nemotron-3-super-120b-a12b</a:t>
                      </a:r>
                    </a:p>
                  </a:txBody>
                  <a:tcPr marT="38100" marB="38100" marL="76200" anchor="ctr">
                    <a:solidFill>
                      <a:srgbClr val="FFFFFF"/>
                    </a:solidFill>
                  </a:tcPr>
                </a:tc>
                <a:tc>
                  <a:txBody>
                    <a:bodyPr/>
                    <a:lstStyle/>
                    <a:p>
                      <a:pPr algn="ctr"/>
                      <a:r>
                        <a:rPr sz="1200" b="0" i="0">
                          <a:solidFill>
                            <a:srgbClr val="262B30"/>
                          </a:solidFill>
                          <a:latin typeface="Calibri"/>
                        </a:rPr>
                        <a:t>10.45</a:t>
                      </a:r>
                    </a:p>
                  </a:txBody>
                  <a:tcPr marT="38100" marB="38100" marL="76200" anchor="ctr">
                    <a:solidFill>
                      <a:srgbClr val="FFFFFF"/>
                    </a:solidFill>
                  </a:tcPr>
                </a:tc>
                <a:tc>
                  <a:txBody>
                    <a:bodyPr/>
                    <a:lstStyle/>
                    <a:p>
                      <a:pPr algn="ctr"/>
                      <a:r>
                        <a:rPr sz="1200" b="0" i="0">
                          <a:solidFill>
                            <a:srgbClr val="262B30"/>
                          </a:solidFill>
                          <a:latin typeface="Calibri"/>
                        </a:rPr>
                        <a:t>0.830</a:t>
                      </a:r>
                    </a:p>
                  </a:txBody>
                  <a:tcPr marT="38100" marB="38100" marL="76200" anchor="ctr">
                    <a:solidFill>
                      <a:srgbClr val="FFFFFF"/>
                    </a:solidFill>
                  </a:tcPr>
                </a:tc>
                <a:tc>
                  <a:txBody>
                    <a:bodyPr/>
                    <a:lstStyle/>
                    <a:p>
                      <a:pPr algn="ctr"/>
                      <a:r>
                        <a:rPr sz="1200" b="0" i="0">
                          <a:solidFill>
                            <a:srgbClr val="262B30"/>
                          </a:solidFill>
                          <a:latin typeface="Calibri"/>
                        </a:rPr>
                        <a:t>0.761</a:t>
                      </a:r>
                    </a:p>
                  </a:txBody>
                  <a:tcPr marT="38100" marB="38100" marL="76200" anchor="ctr">
                    <a:solidFill>
                      <a:srgbClr val="FFFFFF"/>
                    </a:solidFill>
                  </a:tcPr>
                </a:tc>
                <a:tc>
                  <a:txBody>
                    <a:bodyPr/>
                    <a:lstStyle/>
                    <a:p>
                      <a:pPr algn="ctr"/>
                      <a:r>
                        <a:rPr sz="1200" b="0" i="0">
                          <a:solidFill>
                            <a:srgbClr val="262B30"/>
                          </a:solidFill>
                          <a:latin typeface="Calibri"/>
                        </a:rPr>
                        <a:t>−7.00</a:t>
                      </a:r>
                    </a:p>
                  </a:txBody>
                  <a:tcPr marT="38100" marB="38100" marL="76200" anchor="ctr">
                    <a:solidFill>
                      <a:srgbClr val="FFFFFF"/>
                    </a:solidFill>
                  </a:tcPr>
                </a:tc>
                <a:tc>
                  <a:txBody>
                    <a:bodyPr/>
                    <a:lstStyle/>
                    <a:p>
                      <a:pPr algn="ctr"/>
                      <a:r>
                        <a:rPr sz="1200" b="0" i="0">
                          <a:solidFill>
                            <a:srgbClr val="262B30"/>
                          </a:solidFill>
                          <a:latin typeface="Calibri"/>
                        </a:rPr>
                        <a:t>7.58</a:t>
                      </a:r>
                    </a:p>
                  </a:txBody>
                  <a:tcPr marT="38100" marB="38100" marL="76200" anchor="ctr">
                    <a:solidFill>
                      <a:srgbClr val="FFFFFF"/>
                    </a:solidFill>
                  </a:tcPr>
                </a:tc>
                <a:tc>
                  <a:txBody>
                    <a:bodyPr/>
                    <a:lstStyle/>
                    <a:p>
                      <a:pPr algn="ctr"/>
                      <a:r>
                        <a:rPr sz="1200" b="0" i="0">
                          <a:solidFill>
                            <a:srgbClr val="262B30"/>
                          </a:solidFill>
                          <a:latin typeface="Calibri"/>
                        </a:rPr>
                        <a:t>88.9%</a:t>
                      </a:r>
                    </a:p>
                  </a:txBody>
                  <a:tcPr marT="38100" marB="38100" marL="76200" anchor="ctr">
                    <a:solidFill>
                      <a:srgbClr val="FFFFFF"/>
                    </a:solidFill>
                  </a:tcPr>
                </a:tc>
                <a:tc>
                  <a:txBody>
                    <a:bodyPr/>
                    <a:lstStyle/>
                    <a:p>
                      <a:pPr algn="ctr"/>
                      <a:r>
                        <a:rPr sz="1200" b="0" i="0">
                          <a:solidFill>
                            <a:srgbClr val="262B30"/>
                          </a:solidFill>
                          <a:latin typeface="Calibri"/>
                        </a:rPr>
                        <a:t>119.1</a:t>
                      </a:r>
                    </a:p>
                  </a:txBody>
                  <a:tcPr marT="38100" marB="38100" marL="76200" anchor="ctr">
                    <a:solidFill>
                      <a:srgbClr val="FFFFFF"/>
                    </a:solidFill>
                  </a:tcPr>
                </a:tc>
              </a:tr>
              <a:tr h="472440">
                <a:tc>
                  <a:txBody>
                    <a:bodyPr/>
                    <a:lstStyle/>
                    <a:p>
                      <a:pPr algn="l"/>
                      <a:r>
                        <a:rPr sz="1200" b="1" i="0">
                          <a:solidFill>
                            <a:srgbClr val="1F3A5C"/>
                          </a:solidFill>
                          <a:latin typeface="Calibri"/>
                        </a:rPr>
                        <a:t>gpt-oss-120b</a:t>
                      </a:r>
                    </a:p>
                  </a:txBody>
                  <a:tcPr marT="38100" marB="38100" marL="76200" anchor="ctr">
                    <a:solidFill>
                      <a:srgbClr val="DDECF6"/>
                    </a:solidFill>
                  </a:tcPr>
                </a:tc>
                <a:tc>
                  <a:txBody>
                    <a:bodyPr/>
                    <a:lstStyle/>
                    <a:p>
                      <a:pPr algn="ctr"/>
                      <a:r>
                        <a:rPr sz="1200" b="0" i="0">
                          <a:solidFill>
                            <a:srgbClr val="1F3A5C"/>
                          </a:solidFill>
                          <a:latin typeface="Calibri"/>
                        </a:rPr>
                        <a:t>7.27</a:t>
                      </a:r>
                    </a:p>
                  </a:txBody>
                  <a:tcPr marT="38100" marB="38100" marL="76200" anchor="ctr">
                    <a:solidFill>
                      <a:srgbClr val="DDECF6"/>
                    </a:solidFill>
                  </a:tcPr>
                </a:tc>
                <a:tc>
                  <a:txBody>
                    <a:bodyPr/>
                    <a:lstStyle/>
                    <a:p>
                      <a:pPr algn="ctr"/>
                      <a:r>
                        <a:rPr sz="1200" b="0" i="0">
                          <a:solidFill>
                            <a:srgbClr val="1F3A5C"/>
                          </a:solidFill>
                          <a:latin typeface="Calibri"/>
                        </a:rPr>
                        <a:t>0.942</a:t>
                      </a:r>
                    </a:p>
                  </a:txBody>
                  <a:tcPr marT="38100" marB="38100" marL="76200" anchor="ctr">
                    <a:solidFill>
                      <a:srgbClr val="DDECF6"/>
                    </a:solidFill>
                  </a:tcPr>
                </a:tc>
                <a:tc>
                  <a:txBody>
                    <a:bodyPr/>
                    <a:lstStyle/>
                    <a:p>
                      <a:pPr algn="ctr"/>
                      <a:r>
                        <a:rPr sz="1200" b="0" i="0">
                          <a:solidFill>
                            <a:srgbClr val="1F3A5C"/>
                          </a:solidFill>
                          <a:latin typeface="Calibri"/>
                        </a:rPr>
                        <a:t>0.728</a:t>
                      </a:r>
                    </a:p>
                  </a:txBody>
                  <a:tcPr marT="38100" marB="38100" marL="76200" anchor="ctr">
                    <a:solidFill>
                      <a:srgbClr val="DDECF6"/>
                    </a:solidFill>
                  </a:tcPr>
                </a:tc>
                <a:tc>
                  <a:txBody>
                    <a:bodyPr/>
                    <a:lstStyle/>
                    <a:p>
                      <a:pPr algn="ctr"/>
                      <a:r>
                        <a:rPr sz="1200" b="0" i="0">
                          <a:solidFill>
                            <a:srgbClr val="1F3A5C"/>
                          </a:solidFill>
                          <a:latin typeface="Calibri"/>
                        </a:rPr>
                        <a:t>+0.78</a:t>
                      </a:r>
                    </a:p>
                  </a:txBody>
                  <a:tcPr marT="38100" marB="38100" marL="76200" anchor="ctr">
                    <a:solidFill>
                      <a:srgbClr val="DDECF6"/>
                    </a:solidFill>
                  </a:tcPr>
                </a:tc>
                <a:tc>
                  <a:txBody>
                    <a:bodyPr/>
                    <a:lstStyle/>
                    <a:p>
                      <a:pPr algn="ctr"/>
                      <a:r>
                        <a:rPr sz="1200" b="0" i="0">
                          <a:solidFill>
                            <a:srgbClr val="1F3A5C"/>
                          </a:solidFill>
                          <a:latin typeface="Calibri"/>
                        </a:rPr>
                        <a:t>7.79</a:t>
                      </a:r>
                    </a:p>
                  </a:txBody>
                  <a:tcPr marT="38100" marB="38100" marL="76200" anchor="ctr">
                    <a:solidFill>
                      <a:srgbClr val="DDECF6"/>
                    </a:solidFill>
                  </a:tcPr>
                </a:tc>
                <a:tc>
                  <a:txBody>
                    <a:bodyPr/>
                    <a:lstStyle/>
                    <a:p>
                      <a:pPr algn="ctr"/>
                      <a:r>
                        <a:rPr sz="1200" b="0" i="0">
                          <a:solidFill>
                            <a:srgbClr val="1F3A5C"/>
                          </a:solidFill>
                          <a:latin typeface="Calibri"/>
                        </a:rPr>
                        <a:t>94.2%</a:t>
                      </a:r>
                    </a:p>
                  </a:txBody>
                  <a:tcPr marT="38100" marB="38100" marL="76200" anchor="ctr">
                    <a:solidFill>
                      <a:srgbClr val="DDECF6"/>
                    </a:solidFill>
                  </a:tcPr>
                </a:tc>
                <a:tc>
                  <a:txBody>
                    <a:bodyPr/>
                    <a:lstStyle/>
                    <a:p>
                      <a:pPr algn="ctr"/>
                      <a:r>
                        <a:rPr sz="1200" b="0" i="0">
                          <a:solidFill>
                            <a:srgbClr val="1F3A5C"/>
                          </a:solidFill>
                          <a:latin typeface="Calibri"/>
                        </a:rPr>
                        <a:t>17.8</a:t>
                      </a:r>
                    </a:p>
                  </a:txBody>
                  <a:tcPr marT="38100" marB="38100" marL="76200" anchor="ctr">
                    <a:solidFill>
                      <a:srgbClr val="DDECF6"/>
                    </a:solidFill>
                  </a:tcPr>
                </a:tc>
              </a:tr>
            </a:tbl>
          </a:graphicData>
        </a:graphic>
      </p:graphicFrame>
      <p:sp>
        <p:nvSpPr>
          <p:cNvPr id="7" name="TextBox 6"/>
          <p:cNvSpPr txBox="1"/>
          <p:nvPr/>
        </p:nvSpPr>
        <p:spPr>
          <a:xfrm>
            <a:off x="548640" y="4709160"/>
            <a:ext cx="11091672" cy="457200"/>
          </a:xfrm>
          <a:prstGeom prst="rect">
            <a:avLst/>
          </a:prstGeom>
          <a:noFill/>
        </p:spPr>
        <p:txBody>
          <a:bodyPr wrap="square" anchor="t">
            <a:spAutoFit/>
          </a:bodyPr>
          <a:lstStyle/>
          <a:p>
            <a:pPr>
              <a:spcAft>
                <a:spcPts val="800"/>
              </a:spcAft>
            </a:pPr>
            <a:r>
              <a:rPr sz="1800" b="0" i="0">
                <a:solidFill>
                  <a:srgbClr val="262B30"/>
                </a:solidFill>
                <a:latin typeface="Calibri"/>
              </a:rPr>
              <a:t>•  Highlighted rows = chosen models · greyed row = gemma4:26b, dropped</a:t>
            </a:r>
          </a:p>
        </p:txBody>
      </p:sp>
      <p:sp>
        <p:nvSpPr>
          <p:cNvPr id="8" name="TextBox 7"/>
          <p:cNvSpPr txBox="1"/>
          <p:nvPr/>
        </p:nvSpPr>
        <p:spPr>
          <a:xfrm>
            <a:off x="548640" y="5989320"/>
            <a:ext cx="11091672" cy="320040"/>
          </a:xfrm>
          <a:prstGeom prst="rect">
            <a:avLst/>
          </a:prstGeom>
          <a:noFill/>
        </p:spPr>
        <p:txBody>
          <a:bodyPr wrap="square" anchor="t">
            <a:spAutoFit/>
          </a:bodyPr>
          <a:lstStyle/>
          <a:p>
            <a:r>
              <a:rPr sz="1100" b="0" i="1">
                <a:solidFill>
                  <a:srgbClr val="747C84"/>
                </a:solidFill>
                <a:latin typeface="Calibri"/>
              </a:rPr>
              <a:t>* gemma4’s ρ/κ computed on a pooled basis for this comparison, not identical methodology to the other four rows.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MODEL SELECTION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MAE by approach — 5 candidate models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21</a:t>
            </a:r>
          </a:p>
        </p:txBody>
      </p:sp>
      <p:pic>
        <p:nvPicPr>
          <p:cNvPr id="6" name="Picture 5" descr="mae_by_approach.png"/>
          <p:cNvPicPr>
            <a:picLocks noChangeAspect="1"/>
          </p:cNvPicPr>
          <p:nvPr/>
        </p:nvPicPr>
        <p:blipFill>
          <a:blip r:embed="rId2"/>
          <a:stretch>
            <a:fillRect/>
          </a:stretch>
        </p:blipFill>
        <p:spPr>
          <a:xfrm>
            <a:off x="870251" y="1417320"/>
            <a:ext cx="10448448" cy="47091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MODEL SELECTION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Stability by model</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22</a:t>
            </a:r>
          </a:p>
        </p:txBody>
      </p:sp>
      <p:pic>
        <p:nvPicPr>
          <p:cNvPr id="6" name="Picture 5" descr="stability_by_model.png"/>
          <p:cNvPicPr>
            <a:picLocks noChangeAspect="1"/>
          </p:cNvPicPr>
          <p:nvPr/>
        </p:nvPicPr>
        <p:blipFill>
          <a:blip r:embed="rId2"/>
          <a:stretch>
            <a:fillRect/>
          </a:stretch>
        </p:blipFill>
        <p:spPr>
          <a:xfrm>
            <a:off x="895178" y="1417320"/>
            <a:ext cx="10398594" cy="470916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MODEL SELECTION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Format-failure count</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23</a:t>
            </a:r>
          </a:p>
        </p:txBody>
      </p:sp>
      <p:pic>
        <p:nvPicPr>
          <p:cNvPr id="6" name="Picture 5" descr="format_failures.png"/>
          <p:cNvPicPr>
            <a:picLocks noChangeAspect="1"/>
          </p:cNvPicPr>
          <p:nvPr/>
        </p:nvPicPr>
        <p:blipFill>
          <a:blip r:embed="rId2"/>
          <a:stretch>
            <a:fillRect/>
          </a:stretch>
        </p:blipFill>
        <p:spPr>
          <a:xfrm>
            <a:off x="1350125" y="1417320"/>
            <a:ext cx="9488701" cy="47091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RQ1</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RQ1 — Classifier vs free-marker</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24</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classify each rubric point into a bucket, or let the LLM freely assign marks?</a:t>
            </a:r>
          </a:p>
          <a:p>
            <a:pPr>
              <a:spcAft>
                <a:spcPts val="800"/>
              </a:spcAft>
            </a:pPr>
            <a:r>
              <a:rPr sz="1800" b="0" i="0">
                <a:solidFill>
                  <a:srgbClr val="262B30"/>
                </a:solidFill>
                <a:latin typeface="Calibri"/>
              </a:rPr>
              <a:t>•  Check: run-to-run consistency; agreement with human; does free-marking score lower?</a:t>
            </a:r>
          </a:p>
          <a:p>
            <a:pPr>
              <a:spcAft>
                <a:spcPts val="800"/>
              </a:spcAft>
            </a:pPr>
            <a:r>
              <a:rPr sz="1800" b="0" i="0">
                <a:solidFill>
                  <a:srgbClr val="262B30"/>
                </a:solidFill>
                <a:latin typeface="Calibri"/>
              </a:rPr>
              <a:t>•  Novel — no prior work tests LLM-as-classifier for grading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RQ1</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RQ1 · Score distribution vs human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25</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score_distribution.png"/>
          <p:cNvPicPr>
            <a:picLocks noChangeAspect="1"/>
          </p:cNvPicPr>
          <p:nvPr/>
        </p:nvPicPr>
        <p:blipFill>
          <a:blip r:embed="rId2"/>
          <a:stretch>
            <a:fillRect/>
          </a:stretch>
        </p:blipFill>
        <p:spPr>
          <a:xfrm>
            <a:off x="457200" y="2446328"/>
            <a:ext cx="5486400" cy="3016902"/>
          </a:xfrm>
          <a:prstGeom prst="rect">
            <a:avLst/>
          </a:prstGeom>
        </p:spPr>
      </p:pic>
      <p:pic>
        <p:nvPicPr>
          <p:cNvPr id="9" name="Picture 8" descr="score_distribution.png"/>
          <p:cNvPicPr>
            <a:picLocks noChangeAspect="1"/>
          </p:cNvPicPr>
          <p:nvPr/>
        </p:nvPicPr>
        <p:blipFill>
          <a:blip r:embed="rId3"/>
          <a:stretch>
            <a:fillRect/>
          </a:stretch>
        </p:blipFill>
        <p:spPr>
          <a:xfrm>
            <a:off x="6245352" y="2446328"/>
            <a:ext cx="5486400" cy="301690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RQ1</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RQ1 · Run consistency (implementation)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26</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runs_implementation.png"/>
          <p:cNvPicPr>
            <a:picLocks noChangeAspect="1"/>
          </p:cNvPicPr>
          <p:nvPr/>
        </p:nvPicPr>
        <p:blipFill>
          <a:blip r:embed="rId2"/>
          <a:stretch>
            <a:fillRect/>
          </a:stretch>
        </p:blipFill>
        <p:spPr>
          <a:xfrm>
            <a:off x="580548" y="1783080"/>
            <a:ext cx="5239703" cy="4343400"/>
          </a:xfrm>
          <a:prstGeom prst="rect">
            <a:avLst/>
          </a:prstGeom>
        </p:spPr>
      </p:pic>
      <p:pic>
        <p:nvPicPr>
          <p:cNvPr id="9" name="Picture 8" descr="runs_implementation.png"/>
          <p:cNvPicPr>
            <a:picLocks noChangeAspect="1"/>
          </p:cNvPicPr>
          <p:nvPr/>
        </p:nvPicPr>
        <p:blipFill>
          <a:blip r:embed="rId3"/>
          <a:stretch>
            <a:fillRect/>
          </a:stretch>
        </p:blipFill>
        <p:spPr>
          <a:xfrm>
            <a:off x="6368700" y="1783080"/>
            <a:ext cx="5239703" cy="43434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RQ1</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RQ1 · Run consistency (asymptotic)</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27</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runs_asymptotic.png"/>
          <p:cNvPicPr>
            <a:picLocks noChangeAspect="1"/>
          </p:cNvPicPr>
          <p:nvPr/>
        </p:nvPicPr>
        <p:blipFill>
          <a:blip r:embed="rId2"/>
          <a:stretch>
            <a:fillRect/>
          </a:stretch>
        </p:blipFill>
        <p:spPr>
          <a:xfrm>
            <a:off x="580548" y="1783080"/>
            <a:ext cx="5239703" cy="4343400"/>
          </a:xfrm>
          <a:prstGeom prst="rect">
            <a:avLst/>
          </a:prstGeom>
        </p:spPr>
      </p:pic>
      <p:pic>
        <p:nvPicPr>
          <p:cNvPr id="9" name="Picture 8" descr="runs_asymptotic.png"/>
          <p:cNvPicPr>
            <a:picLocks noChangeAspect="1"/>
          </p:cNvPicPr>
          <p:nvPr/>
        </p:nvPicPr>
        <p:blipFill>
          <a:blip r:embed="rId3"/>
          <a:stretch>
            <a:fillRect/>
          </a:stretch>
        </p:blipFill>
        <p:spPr>
          <a:xfrm>
            <a:off x="6368700" y="1783080"/>
            <a:ext cx="5239703" cy="43434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RQ1</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RQ1 · Median deviation across runs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28</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deviation_all_questions.png"/>
          <p:cNvPicPr>
            <a:picLocks noChangeAspect="1"/>
          </p:cNvPicPr>
          <p:nvPr/>
        </p:nvPicPr>
        <p:blipFill>
          <a:blip r:embed="rId2"/>
          <a:stretch>
            <a:fillRect/>
          </a:stretch>
        </p:blipFill>
        <p:spPr>
          <a:xfrm>
            <a:off x="457200" y="2444270"/>
            <a:ext cx="5486400" cy="3021018"/>
          </a:xfrm>
          <a:prstGeom prst="rect">
            <a:avLst/>
          </a:prstGeom>
        </p:spPr>
      </p:pic>
      <p:pic>
        <p:nvPicPr>
          <p:cNvPr id="9" name="Picture 8" descr="deviation_all_questions.png"/>
          <p:cNvPicPr>
            <a:picLocks noChangeAspect="1"/>
          </p:cNvPicPr>
          <p:nvPr/>
        </p:nvPicPr>
        <p:blipFill>
          <a:blip r:embed="rId3"/>
          <a:stretch>
            <a:fillRect/>
          </a:stretch>
        </p:blipFill>
        <p:spPr>
          <a:xfrm>
            <a:off x="6245352" y="2444270"/>
            <a:ext cx="5486400" cy="302101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RQ2</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RQ2 — Whole rubric vs point-by-point</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29</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pass the whole rubric at once, or one point per call?</a:t>
            </a:r>
          </a:p>
          <a:p>
            <a:pPr>
              <a:spcAft>
                <a:spcPts val="800"/>
              </a:spcAft>
            </a:pPr>
            <a:r>
              <a:rPr sz="1800" b="0" i="0">
                <a:solidFill>
                  <a:srgbClr val="262B30"/>
                </a:solidFill>
                <a:latin typeface="Calibri"/>
              </a:rPr>
              <a:t>•  Check: which aligns better with human; time &amp; cost (one call per rubric point)</a:t>
            </a:r>
          </a:p>
          <a:p>
            <a:pPr>
              <a:spcAft>
                <a:spcPts val="800"/>
              </a:spcAft>
            </a:pPr>
            <a:r>
              <a:rPr sz="1800" b="0" i="0">
                <a:solidFill>
                  <a:srgbClr val="262B30"/>
                </a:solidFill>
                <a:latin typeface="Calibri"/>
              </a:rPr>
              <a:t>•  Pathak et al. 2025: point-wise tends to score lower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RQ2</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RQ2 · MAE by approach (both models)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30</a:t>
            </a:r>
          </a:p>
        </p:txBody>
      </p:sp>
      <p:pic>
        <p:nvPicPr>
          <p:cNvPr id="6" name="Picture 5" descr="mae_by_approach.png"/>
          <p:cNvPicPr>
            <a:picLocks noChangeAspect="1"/>
          </p:cNvPicPr>
          <p:nvPr/>
        </p:nvPicPr>
        <p:blipFill>
          <a:blip r:embed="rId2"/>
          <a:stretch>
            <a:fillRect/>
          </a:stretch>
        </p:blipFill>
        <p:spPr>
          <a:xfrm>
            <a:off x="870251" y="1417320"/>
            <a:ext cx="10448448" cy="470916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RQ2</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RQ2 · Spearman ρ by approach</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31</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spearman_by_approach.png"/>
          <p:cNvPicPr>
            <a:picLocks noChangeAspect="1"/>
          </p:cNvPicPr>
          <p:nvPr/>
        </p:nvPicPr>
        <p:blipFill>
          <a:blip r:embed="rId2"/>
          <a:stretch>
            <a:fillRect/>
          </a:stretch>
        </p:blipFill>
        <p:spPr>
          <a:xfrm>
            <a:off x="457200" y="2433981"/>
            <a:ext cx="5486400" cy="3041597"/>
          </a:xfrm>
          <a:prstGeom prst="rect">
            <a:avLst/>
          </a:prstGeom>
        </p:spPr>
      </p:pic>
      <p:pic>
        <p:nvPicPr>
          <p:cNvPr id="9" name="Picture 8" descr="spearman_by_approach.png"/>
          <p:cNvPicPr>
            <a:picLocks noChangeAspect="1"/>
          </p:cNvPicPr>
          <p:nvPr/>
        </p:nvPicPr>
        <p:blipFill>
          <a:blip r:embed="rId3"/>
          <a:stretch>
            <a:fillRect/>
          </a:stretch>
        </p:blipFill>
        <p:spPr>
          <a:xfrm>
            <a:off x="6245352" y="2433981"/>
            <a:ext cx="5486400" cy="3041597"/>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RQ2</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RQ2 · Time by approach (both models)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32</a:t>
            </a:r>
          </a:p>
        </p:txBody>
      </p:sp>
      <p:pic>
        <p:nvPicPr>
          <p:cNvPr id="6" name="Picture 5" descr="time_by_approach.png"/>
          <p:cNvPicPr>
            <a:picLocks noChangeAspect="1"/>
          </p:cNvPicPr>
          <p:nvPr/>
        </p:nvPicPr>
        <p:blipFill>
          <a:blip r:embed="rId2"/>
          <a:stretch>
            <a:fillRect/>
          </a:stretch>
        </p:blipFill>
        <p:spPr>
          <a:xfrm>
            <a:off x="1369385" y="1417320"/>
            <a:ext cx="9450181" cy="47091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RQ3</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RQ3 — Robustness / stability</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33</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how stable are marks across repeated runs? Does it depend on model &amp; approach?</a:t>
            </a:r>
          </a:p>
          <a:p>
            <a:pPr>
              <a:spcAft>
                <a:spcPts val="800"/>
              </a:spcAft>
            </a:pPr>
            <a:r>
              <a:rPr sz="1800" b="0" i="0">
                <a:solidFill>
                  <a:srgbClr val="262B30"/>
                </a:solidFill>
                <a:latin typeface="Calibri"/>
              </a:rPr>
              <a:t>•  Check: score variation across 3 runs; classification vs free; format-failure rate</a:t>
            </a:r>
          </a:p>
          <a:p>
            <a:pPr>
              <a:spcAft>
                <a:spcPts val="800"/>
              </a:spcAft>
            </a:pPr>
            <a:r>
              <a:rPr sz="1800" b="0" i="0">
                <a:solidFill>
                  <a:srgbClr val="262B30"/>
                </a:solidFill>
                <a:latin typeface="Calibri"/>
              </a:rPr>
              <a:t>•  Schroeder 2025: a grader can be accurate yet unreliable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RQ3</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RQ3 · Stability by model (both models)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34</a:t>
            </a:r>
          </a:p>
        </p:txBody>
      </p:sp>
      <p:pic>
        <p:nvPicPr>
          <p:cNvPr id="6" name="Picture 5" descr="stability_by_model.png"/>
          <p:cNvPicPr>
            <a:picLocks noChangeAspect="1"/>
          </p:cNvPicPr>
          <p:nvPr/>
        </p:nvPicPr>
        <p:blipFill>
          <a:blip r:embed="rId2"/>
          <a:stretch>
            <a:fillRect/>
          </a:stretch>
        </p:blipFill>
        <p:spPr>
          <a:xfrm>
            <a:off x="863143" y="1417320"/>
            <a:ext cx="10462664" cy="470916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RQ3</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RQ3 · Format failures (both models)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35</a:t>
            </a:r>
          </a:p>
        </p:txBody>
      </p:sp>
      <p:pic>
        <p:nvPicPr>
          <p:cNvPr id="6" name="Picture 5" descr="format_failures.png"/>
          <p:cNvPicPr>
            <a:picLocks noChangeAspect="1"/>
          </p:cNvPicPr>
          <p:nvPr/>
        </p:nvPicPr>
        <p:blipFill>
          <a:blip r:embed="rId2"/>
          <a:stretch>
            <a:fillRect/>
          </a:stretch>
        </p:blipFill>
        <p:spPr>
          <a:xfrm>
            <a:off x="1350125" y="1417320"/>
            <a:ext cx="9488701" cy="470916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RQ4</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RQ4 — Bias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36</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too strict or too generous? middle-bucket avoidance? length bias?</a:t>
            </a:r>
          </a:p>
          <a:p>
            <a:pPr>
              <a:spcAft>
                <a:spcPts val="800"/>
              </a:spcAft>
            </a:pPr>
            <a:r>
              <a:rPr sz="1800" b="0" i="0">
                <a:solidFill>
                  <a:srgbClr val="262B30"/>
                </a:solidFill>
                <a:latin typeface="Calibri"/>
              </a:rPr>
              <a:t>•  Check: leniency; bucket distribution vs human; length ↔ marks correlation</a:t>
            </a:r>
          </a:p>
          <a:p>
            <a:pPr>
              <a:spcAft>
                <a:spcPts val="800"/>
              </a:spcAft>
            </a:pPr>
            <a:r>
              <a:rPr sz="1800" b="0" i="0">
                <a:solidFill>
                  <a:srgbClr val="262B30"/>
                </a:solidFill>
                <a:latin typeface="Calibri"/>
              </a:rPr>
              <a:t>•  Ye 2024 “verbosity bias” · Jukiewicz 2025 liberal vs restrictive graders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RQ4</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RQ4 · Leniency by approach</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37</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leniency_by_approach.png"/>
          <p:cNvPicPr>
            <a:picLocks noChangeAspect="1"/>
          </p:cNvPicPr>
          <p:nvPr/>
        </p:nvPicPr>
        <p:blipFill>
          <a:blip r:embed="rId2"/>
          <a:stretch>
            <a:fillRect/>
          </a:stretch>
        </p:blipFill>
        <p:spPr>
          <a:xfrm>
            <a:off x="457200" y="2254181"/>
            <a:ext cx="5486400" cy="3401197"/>
          </a:xfrm>
          <a:prstGeom prst="rect">
            <a:avLst/>
          </a:prstGeom>
        </p:spPr>
      </p:pic>
      <p:pic>
        <p:nvPicPr>
          <p:cNvPr id="9" name="Picture 8" descr="leniency_by_approach.png"/>
          <p:cNvPicPr>
            <a:picLocks noChangeAspect="1"/>
          </p:cNvPicPr>
          <p:nvPr/>
        </p:nvPicPr>
        <p:blipFill>
          <a:blip r:embed="rId3"/>
          <a:stretch>
            <a:fillRect/>
          </a:stretch>
        </p:blipFill>
        <p:spPr>
          <a:xfrm>
            <a:off x="6245352" y="2254181"/>
            <a:ext cx="5486400" cy="3401197"/>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RQ4</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RQ4 · Leniency scatter</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38</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leniency_scatter.png"/>
          <p:cNvPicPr>
            <a:picLocks noChangeAspect="1"/>
          </p:cNvPicPr>
          <p:nvPr/>
        </p:nvPicPr>
        <p:blipFill>
          <a:blip r:embed="rId2"/>
          <a:stretch>
            <a:fillRect/>
          </a:stretch>
        </p:blipFill>
        <p:spPr>
          <a:xfrm>
            <a:off x="457200" y="2444270"/>
            <a:ext cx="5486400" cy="3021018"/>
          </a:xfrm>
          <a:prstGeom prst="rect">
            <a:avLst/>
          </a:prstGeom>
        </p:spPr>
      </p:pic>
      <p:pic>
        <p:nvPicPr>
          <p:cNvPr id="9" name="Picture 8" descr="leniency_scatter.png"/>
          <p:cNvPicPr>
            <a:picLocks noChangeAspect="1"/>
          </p:cNvPicPr>
          <p:nvPr/>
        </p:nvPicPr>
        <p:blipFill>
          <a:blip r:embed="rId3"/>
          <a:stretch>
            <a:fillRect/>
          </a:stretch>
        </p:blipFill>
        <p:spPr>
          <a:xfrm>
            <a:off x="6245352" y="2445403"/>
            <a:ext cx="5486400" cy="3018753"/>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RQ4</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RQ4 · Bucket distribution vs human</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39</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bucket_distribution.png"/>
          <p:cNvPicPr>
            <a:picLocks noChangeAspect="1"/>
          </p:cNvPicPr>
          <p:nvPr/>
        </p:nvPicPr>
        <p:blipFill>
          <a:blip r:embed="rId2"/>
          <a:stretch>
            <a:fillRect/>
          </a:stretch>
        </p:blipFill>
        <p:spPr>
          <a:xfrm>
            <a:off x="457200" y="2591503"/>
            <a:ext cx="5486400" cy="2726552"/>
          </a:xfrm>
          <a:prstGeom prst="rect">
            <a:avLst/>
          </a:prstGeom>
        </p:spPr>
      </p:pic>
      <p:pic>
        <p:nvPicPr>
          <p:cNvPr id="9" name="Picture 8" descr="bucket_distribution.png"/>
          <p:cNvPicPr>
            <a:picLocks noChangeAspect="1"/>
          </p:cNvPicPr>
          <p:nvPr/>
        </p:nvPicPr>
        <p:blipFill>
          <a:blip r:embed="rId3"/>
          <a:stretch>
            <a:fillRect/>
          </a:stretch>
        </p:blipFill>
        <p:spPr>
          <a:xfrm>
            <a:off x="6245352" y="2591503"/>
            <a:ext cx="5486400" cy="272655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RQ4</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RQ4 · Length bias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40</a:t>
            </a:r>
          </a:p>
        </p:txBody>
      </p:sp>
      <p:sp>
        <p:nvSpPr>
          <p:cNvPr id="6" name="TextBox 5"/>
          <p:cNvSpPr txBox="1"/>
          <p:nvPr/>
        </p:nvSpPr>
        <p:spPr>
          <a:xfrm>
            <a:off x="457200" y="1371600"/>
            <a:ext cx="5486400" cy="365760"/>
          </a:xfrm>
          <a:prstGeom prst="rect">
            <a:avLst/>
          </a:prstGeom>
          <a:noFill/>
        </p:spPr>
        <p:txBody>
          <a:bodyPr wrap="square" anchor="t">
            <a:spAutoFit/>
          </a:bodyPr>
          <a:lstStyle/>
          <a:p>
            <a:pPr algn="ctr"/>
            <a:r>
              <a:rPr sz="1500" b="1" i="0">
                <a:solidFill>
                  <a:srgbClr val="2E86C1"/>
                </a:solidFill>
                <a:latin typeface="Calibri"/>
              </a:rPr>
              <a:t>Qwen3:14b  ·  local</a:t>
            </a:r>
          </a:p>
        </p:txBody>
      </p:sp>
      <p:sp>
        <p:nvSpPr>
          <p:cNvPr id="7" name="TextBox 6"/>
          <p:cNvSpPr txBox="1"/>
          <p:nvPr/>
        </p:nvSpPr>
        <p:spPr>
          <a:xfrm>
            <a:off x="6245352" y="1371600"/>
            <a:ext cx="5486400" cy="365760"/>
          </a:xfrm>
          <a:prstGeom prst="rect">
            <a:avLst/>
          </a:prstGeom>
          <a:noFill/>
        </p:spPr>
        <p:txBody>
          <a:bodyPr wrap="square" anchor="t">
            <a:spAutoFit/>
          </a:bodyPr>
          <a:lstStyle/>
          <a:p>
            <a:pPr algn="ctr"/>
            <a:r>
              <a:rPr sz="1500" b="1" i="0">
                <a:solidFill>
                  <a:srgbClr val="2E86C1"/>
                </a:solidFill>
                <a:latin typeface="Calibri"/>
              </a:rPr>
              <a:t>gpt-oss-120b  ·  cloud</a:t>
            </a:r>
          </a:p>
        </p:txBody>
      </p:sp>
      <p:pic>
        <p:nvPicPr>
          <p:cNvPr id="8" name="Picture 7" descr="length_bias.png"/>
          <p:cNvPicPr>
            <a:picLocks noChangeAspect="1"/>
          </p:cNvPicPr>
          <p:nvPr/>
        </p:nvPicPr>
        <p:blipFill>
          <a:blip r:embed="rId2"/>
          <a:stretch>
            <a:fillRect/>
          </a:stretch>
        </p:blipFill>
        <p:spPr>
          <a:xfrm>
            <a:off x="457200" y="1905085"/>
            <a:ext cx="5486400" cy="4099388"/>
          </a:xfrm>
          <a:prstGeom prst="rect">
            <a:avLst/>
          </a:prstGeom>
        </p:spPr>
      </p:pic>
      <p:pic>
        <p:nvPicPr>
          <p:cNvPr id="9" name="Picture 8" descr="length_bias.png"/>
          <p:cNvPicPr>
            <a:picLocks noChangeAspect="1"/>
          </p:cNvPicPr>
          <p:nvPr/>
        </p:nvPicPr>
        <p:blipFill>
          <a:blip r:embed="rId3"/>
          <a:stretch>
            <a:fillRect/>
          </a:stretch>
        </p:blipFill>
        <p:spPr>
          <a:xfrm>
            <a:off x="6245352" y="1905085"/>
            <a:ext cx="5486400" cy="409938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RQ5</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RQ5 — Feedback quality</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41</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is feedback grounded &amp; consistent with the mark, or generic/hallucinated?</a:t>
            </a:r>
          </a:p>
          <a:p>
            <a:pPr>
              <a:spcAft>
                <a:spcPts val="800"/>
              </a:spcAft>
            </a:pPr>
            <a:r>
              <a:rPr sz="1800" b="0" i="0">
                <a:solidFill>
                  <a:srgbClr val="262B30"/>
                </a:solidFill>
                <a:latin typeface="Calibri"/>
              </a:rPr>
              <a:t>•  Check: manual 0–4 score; automatic feedback-contradiction rate</a:t>
            </a:r>
          </a:p>
          <a:p>
            <a:pPr>
              <a:spcAft>
                <a:spcPts val="800"/>
              </a:spcAft>
            </a:pPr>
            <a:r>
              <a:rPr sz="1800" b="0" i="0">
                <a:solidFill>
                  <a:srgbClr val="262B30"/>
                </a:solidFill>
                <a:latin typeface="Calibri"/>
              </a:rPr>
              <a:t>•  Jia 2024: 23–27% of LLM feedback hallucinated · Qian 2025: 16-dim framework</a:t>
            </a:r>
          </a:p>
          <a:p>
            <a:pPr>
              <a:spcAft>
                <a:spcPts val="800"/>
              </a:spcAft>
            </a:pPr>
            <a:r>
              <a:rPr sz="1800" b="0" i="0">
                <a:solidFill>
                  <a:srgbClr val="262B30"/>
                </a:solidFill>
                <a:latin typeface="Calibri"/>
              </a:rPr>
              <a:t>•  Result is a table / manual analysis (no graph)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EXPERIMENTS · RQ6</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RQ6 — Failure modes</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42</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Question: what mistakes recur — are they systematic or random?</a:t>
            </a:r>
          </a:p>
          <a:p>
            <a:pPr>
              <a:spcAft>
                <a:spcPts val="800"/>
              </a:spcAft>
            </a:pPr>
            <a:r>
              <a:rPr sz="1800" b="0" i="0">
                <a:solidFill>
                  <a:srgbClr val="262B30"/>
                </a:solidFill>
                <a:latin typeface="Calibri"/>
              </a:rPr>
              <a:t>•  Check: largest human–LLM gaps, each tagged with an error type</a:t>
            </a:r>
          </a:p>
          <a:p>
            <a:pPr lvl="1">
              <a:spcAft>
                <a:spcPts val="800"/>
              </a:spcAft>
            </a:pPr>
            <a:r>
              <a:rPr sz="1500" b="0" i="0">
                <a:solidFill>
                  <a:srgbClr val="747C84"/>
                </a:solidFill>
                <a:latin typeface="Calibri"/>
              </a:rPr>
              <a:t>–  hallucination · wrong rubric point · length-for-marks · code wrong but high marks</a:t>
            </a:r>
          </a:p>
          <a:p>
            <a:pPr>
              <a:spcAft>
                <a:spcPts val="800"/>
              </a:spcAft>
            </a:pPr>
            <a:r>
              <a:rPr sz="1800" b="0" i="0">
                <a:solidFill>
                  <a:srgbClr val="262B30"/>
                </a:solidFill>
                <a:latin typeface="Calibri"/>
              </a:rPr>
              <a:t>•  Result is a tagged failure-case table (no graph)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GUI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GUI</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Why a GUI: human-in-the-loop</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44</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LLM grades  →  Streamlit review tool  →  human finalises</a:t>
            </a:r>
          </a:p>
          <a:p>
            <a:pPr>
              <a:spcAft>
                <a:spcPts val="800"/>
              </a:spcAft>
            </a:pPr>
            <a:r>
              <a:rPr sz="1800" b="0" i="0">
                <a:solidFill>
                  <a:srgbClr val="262B30"/>
                </a:solidFill>
                <a:latin typeface="Calibri"/>
              </a:rPr>
              <a:t>•  EU AI Act + SURE (Korthals 2026): human oversight; review only uncertain cases</a:t>
            </a:r>
          </a:p>
          <a:p>
            <a:pPr lvl="1">
              <a:spcAft>
                <a:spcPts val="800"/>
              </a:spcAft>
            </a:pPr>
            <a:r>
              <a:rPr sz="1500" b="0" i="0">
                <a:solidFill>
                  <a:srgbClr val="747C84"/>
                </a:solidFill>
                <a:latin typeface="Calibri"/>
              </a:rPr>
              <a:t>–  → cuts human grading effort by 40–90%</a:t>
            </a:r>
          </a:p>
          <a:p>
            <a:pPr>
              <a:spcAft>
                <a:spcPts val="800"/>
              </a:spcAft>
            </a:pPr>
            <a:r>
              <a:rPr sz="1800" b="0" i="0">
                <a:solidFill>
                  <a:srgbClr val="262B30"/>
                </a:solidFill>
                <a:latin typeface="Calibri"/>
              </a:rPr>
              <a:t>•  Deliverable is decision-support, NOT a replacement for the lecturer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GUI</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The review tool (live demo)</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45</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Overview &amp; Outliers: clickable mark histogram, class stats, bulk “finalise all”</a:t>
            </a:r>
          </a:p>
          <a:p>
            <a:pPr>
              <a:spcAft>
                <a:spcPts val="800"/>
              </a:spcAft>
            </a:pPr>
            <a:r>
              <a:rPr sz="1800" b="0" i="0">
                <a:solidFill>
                  <a:srgbClr val="262B30"/>
                </a:solidFill>
                <a:latin typeface="Calibri"/>
              </a:rPr>
              <a:t>•  Review &amp; Adjust: student code + sample + rubric side by side</a:t>
            </a:r>
          </a:p>
          <a:p>
            <a:pPr lvl="1">
              <a:spcAft>
                <a:spcPts val="800"/>
              </a:spcAft>
            </a:pPr>
            <a:r>
              <a:rPr sz="1500" b="0" i="0">
                <a:solidFill>
                  <a:srgbClr val="747C84"/>
                </a:solidFill>
                <a:latin typeface="Calibri"/>
              </a:rPr>
              <a:t>–  all four approaches shown together; per-point bucket / marks / feedback editor</a:t>
            </a:r>
          </a:p>
          <a:p>
            <a:pPr lvl="1">
              <a:spcAft>
                <a:spcPts val="800"/>
              </a:spcAft>
            </a:pPr>
            <a:r>
              <a:rPr sz="1500" b="0" i="0">
                <a:solidFill>
                  <a:srgbClr val="747C84"/>
                </a:solidFill>
                <a:latin typeface="Calibri"/>
              </a:rPr>
              <a:t>–  pre-fill from any approach OR from human ground truth, then save final grade</a:t>
            </a:r>
          </a:p>
          <a:p>
            <a:pPr>
              <a:spcAft>
                <a:spcPts val="800"/>
              </a:spcAft>
            </a:pPr>
            <a:r>
              <a:rPr sz="1800" b="0" i="0">
                <a:solidFill>
                  <a:srgbClr val="262B30"/>
                </a:solidFill>
                <a:latin typeface="Calibri"/>
              </a:rPr>
              <a:t>•  LLM does the first pass; the human keeps the final say</a:t>
            </a:r>
          </a:p>
        </p:txBody>
      </p:sp>
      <p:sp>
        <p:nvSpPr>
          <p:cNvPr id="7" name="TextBox 6"/>
          <p:cNvSpPr txBox="1"/>
          <p:nvPr/>
        </p:nvSpPr>
        <p:spPr>
          <a:xfrm>
            <a:off x="548640" y="6309360"/>
            <a:ext cx="11091672" cy="320040"/>
          </a:xfrm>
          <a:prstGeom prst="rect">
            <a:avLst/>
          </a:prstGeom>
          <a:noFill/>
        </p:spPr>
        <p:txBody>
          <a:bodyPr wrap="square" anchor="t">
            <a:spAutoFit/>
          </a:bodyPr>
          <a:lstStyle/>
          <a:p>
            <a:r>
              <a:rPr sz="1100" b="0" i="1">
                <a:solidFill>
                  <a:srgbClr val="747C84"/>
                </a:solidFill>
                <a:latin typeface="Calibri"/>
              </a:rPr>
              <a:t>Live demo preferred; run: streamlit run src/explorer/overview.py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GUI</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Multi-provider &amp; cohort view</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46</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Provider-agnostic — Ollama (local) / NVIDIA NIM / Gemini</a:t>
            </a:r>
          </a:p>
          <a:p>
            <a:pPr>
              <a:spcAft>
                <a:spcPts val="800"/>
              </a:spcAft>
            </a:pPr>
            <a:r>
              <a:rPr sz="1800" b="0" i="0">
                <a:solidFill>
                  <a:srgbClr val="262B30"/>
                </a:solidFill>
                <a:latin typeface="Calibri"/>
              </a:rPr>
              <a:t>•  Rubric-point difficulty: which criteria students found hardest</a:t>
            </a:r>
          </a:p>
          <a:p>
            <a:pPr>
              <a:spcAft>
                <a:spcPts val="800"/>
              </a:spcAft>
            </a:pPr>
            <a:r>
              <a:rPr sz="1800" b="0" i="0">
                <a:solidFill>
                  <a:srgbClr val="262B30"/>
                </a:solidFill>
                <a:latin typeface="Calibri"/>
              </a:rPr>
              <a:t>•  RQ plots on demand inside the tool</a:t>
            </a:r>
          </a:p>
          <a:p>
            <a:pPr>
              <a:spcAft>
                <a:spcPts val="800"/>
              </a:spcAft>
            </a:pPr>
            <a:r>
              <a:rPr sz="1800" b="0" i="0">
                <a:solidFill>
                  <a:srgbClr val="262B30"/>
                </a:solidFill>
                <a:latin typeface="Calibri"/>
              </a:rPr>
              <a:t>•  Compare whole cohorts across assignments over time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0" y="3611880"/>
            <a:ext cx="4873752" cy="508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0152" cy="1005840"/>
          </a:xfrm>
          <a:prstGeom prst="rect">
            <a:avLst/>
          </a:prstGeom>
          <a:noFill/>
        </p:spPr>
        <p:txBody>
          <a:bodyPr wrap="square" anchor="b">
            <a:spAutoFit/>
          </a:bodyPr>
          <a:lstStyle/>
          <a:p>
            <a:pPr algn="ctr"/>
            <a:r>
              <a:rPr sz="4000" b="1" i="0">
                <a:solidFill>
                  <a:srgbClr val="1F3A5C"/>
                </a:solidFill>
                <a:latin typeface="Calibri"/>
              </a:rPr>
              <a:t>Conclusion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0" y="384048"/>
            <a:ext cx="3959352" cy="365760"/>
          </a:xfrm>
          <a:prstGeom prst="rect">
            <a:avLst/>
          </a:prstGeom>
          <a:noFill/>
        </p:spPr>
        <p:txBody>
          <a:bodyPr wrap="square" anchor="t">
            <a:spAutoFit/>
          </a:bodyPr>
          <a:lstStyle/>
          <a:p>
            <a:pPr algn="r"/>
            <a:r>
              <a:rPr sz="1200" b="1" i="0">
                <a:solidFill>
                  <a:srgbClr val="2E86C1"/>
                </a:solidFill>
                <a:latin typeface="Calibri"/>
              </a:rPr>
              <a:t>CONCLUSION</a:t>
            </a:r>
          </a:p>
        </p:txBody>
      </p:sp>
      <p:sp>
        <p:nvSpPr>
          <p:cNvPr id="3" name="TextBox 2"/>
          <p:cNvSpPr txBox="1"/>
          <p:nvPr/>
        </p:nvSpPr>
        <p:spPr>
          <a:xfrm>
            <a:off x="548640" y="438912"/>
            <a:ext cx="7315200" cy="822960"/>
          </a:xfrm>
          <a:prstGeom prst="rect">
            <a:avLst/>
          </a:prstGeom>
          <a:noFill/>
        </p:spPr>
        <p:txBody>
          <a:bodyPr wrap="square" anchor="ctr">
            <a:spAutoFit/>
          </a:bodyPr>
          <a:lstStyle/>
          <a:p>
            <a:r>
              <a:rPr sz="2600" b="1" i="0">
                <a:solidFill>
                  <a:srgbClr val="1F3A5C"/>
                </a:solidFill>
                <a:latin typeface="Calibri"/>
              </a:rPr>
              <a:t>Contributions, limitations &amp; future work</a:t>
            </a:r>
          </a:p>
        </p:txBody>
      </p:sp>
      <p:sp>
        <p:nvSpPr>
          <p:cNvPr id="4" name="Rectangle 3"/>
          <p:cNvSpPr/>
          <p:nvPr/>
        </p:nvSpPr>
        <p:spPr>
          <a:xfrm>
            <a:off x="566928" y="1280160"/>
            <a:ext cx="2011680" cy="3810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19088"/>
            <a:ext cx="731520" cy="320040"/>
          </a:xfrm>
          <a:prstGeom prst="rect">
            <a:avLst/>
          </a:prstGeom>
          <a:noFill/>
        </p:spPr>
        <p:txBody>
          <a:bodyPr wrap="square" anchor="t">
            <a:spAutoFit/>
          </a:bodyPr>
          <a:lstStyle/>
          <a:p>
            <a:pPr algn="r"/>
            <a:r>
              <a:rPr sz="900" b="0" i="0">
                <a:solidFill>
                  <a:srgbClr val="747C84"/>
                </a:solidFill>
                <a:latin typeface="Calibri"/>
              </a:rPr>
              <a:t>48</a:t>
            </a:r>
          </a:p>
        </p:txBody>
      </p:sp>
      <p:sp>
        <p:nvSpPr>
          <p:cNvPr id="6" name="TextBox 5"/>
          <p:cNvSpPr txBox="1"/>
          <p:nvPr/>
        </p:nvSpPr>
        <p:spPr>
          <a:xfrm>
            <a:off x="548640" y="1463040"/>
            <a:ext cx="11091672" cy="4572000"/>
          </a:xfrm>
          <a:prstGeom prst="rect">
            <a:avLst/>
          </a:prstGeom>
          <a:noFill/>
        </p:spPr>
        <p:txBody>
          <a:bodyPr wrap="square" anchor="t">
            <a:spAutoFit/>
          </a:bodyPr>
          <a:lstStyle/>
          <a:p>
            <a:pPr>
              <a:spcAft>
                <a:spcPts val="800"/>
              </a:spcAft>
            </a:pPr>
            <a:r>
              <a:rPr sz="1800" b="0" i="0">
                <a:solidFill>
                  <a:srgbClr val="262B30"/>
                </a:solidFill>
                <a:latin typeface="Calibri"/>
              </a:rPr>
              <a:t>•  Contributions</a:t>
            </a:r>
          </a:p>
          <a:p>
            <a:pPr lvl="1">
              <a:spcAft>
                <a:spcPts val="800"/>
              </a:spcAft>
            </a:pPr>
            <a:r>
              <a:rPr sz="1500" b="0" i="0">
                <a:solidFill>
                  <a:srgbClr val="747C84"/>
                </a:solidFill>
                <a:latin typeface="Calibri"/>
              </a:rPr>
              <a:t>–  First joint comparison: classifier-vs-free × whole-vs-point, local + cloud, multi-run</a:t>
            </a:r>
          </a:p>
          <a:p>
            <a:pPr lvl="1">
              <a:spcAft>
                <a:spcPts val="800"/>
              </a:spcAft>
            </a:pPr>
            <a:r>
              <a:rPr sz="1500" b="0" i="0">
                <a:solidFill>
                  <a:srgbClr val="747C84"/>
                </a:solidFill>
                <a:latin typeface="Calibri"/>
              </a:rPr>
              <a:t>–  Implementation + asymptotic questions, real + synthetic data; a pipeline + human-in-the-loop tool</a:t>
            </a:r>
          </a:p>
          <a:p>
            <a:pPr>
              <a:spcAft>
                <a:spcPts val="800"/>
              </a:spcAft>
            </a:pPr>
            <a:r>
              <a:rPr sz="1800" b="0" i="0">
                <a:solidFill>
                  <a:srgbClr val="262B30"/>
                </a:solidFill>
                <a:latin typeface="Calibri"/>
              </a:rPr>
              <a:t>•  What the results answer (headline from the final graphs): RQ1–RQ6</a:t>
            </a:r>
          </a:p>
          <a:p>
            <a:pPr>
              <a:spcAft>
                <a:spcPts val="800"/>
              </a:spcAft>
            </a:pPr>
            <a:r>
              <a:rPr sz="1800" b="0" i="0">
                <a:solidFill>
                  <a:srgbClr val="262B30"/>
                </a:solidFill>
                <a:latin typeface="Calibri"/>
              </a:rPr>
              <a:t>•  Limitations: single-grader ground truth · authored asymptotic questions · feedback partly manual</a:t>
            </a:r>
          </a:p>
          <a:p>
            <a:pPr>
              <a:spcAft>
                <a:spcPts val="800"/>
              </a:spcAft>
            </a:pPr>
            <a:r>
              <a:rPr sz="1800" b="0" i="0">
                <a:solidFill>
                  <a:srgbClr val="262B30"/>
                </a:solidFill>
                <a:latin typeface="Calibri"/>
              </a:rPr>
              <a:t>•  Future: scale real-student run · multi-grader truth · de-biasing</a:t>
            </a:r>
          </a:p>
        </p:txBody>
      </p:sp>
      <p:sp>
        <p:nvSpPr>
          <p:cNvPr id="7" name="TextBox 6"/>
          <p:cNvSpPr txBox="1"/>
          <p:nvPr/>
        </p:nvSpPr>
        <p:spPr>
          <a:xfrm>
            <a:off x="548640" y="6035040"/>
            <a:ext cx="11091672" cy="320040"/>
          </a:xfrm>
          <a:prstGeom prst="rect">
            <a:avLst/>
          </a:prstGeom>
          <a:noFill/>
        </p:spPr>
        <p:txBody>
          <a:bodyPr wrap="square" anchor="t">
            <a:spAutoFit/>
          </a:bodyPr>
          <a:lstStyle/>
          <a:p>
            <a:r>
              <a:rPr sz="1100" b="0" i="1">
                <a:solidFill>
                  <a:srgbClr val="747C84"/>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